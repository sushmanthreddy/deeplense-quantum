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Calibri"/>
              </a:rPr>
              <a:t>GSoC 2026  •  DeepLense  •  Weekly Update — Week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88136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500" b="1" i="0">
                <a:solidFill>
                  <a:srgbClr val="FFFFFF"/>
                </a:solidFill>
                <a:latin typeface="Calibri"/>
              </a:rPr>
              <a:t>Neural Angle Quantum Fields (NAQF)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700" b="1" i="0">
                <a:solidFill>
                  <a:srgbClr val="8FE8C8"/>
                </a:solidFill>
                <a:latin typeface="Calibri"/>
              </a:rPr>
              <a:t>p4m-Equivariant Gravitational Lensing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CFDDEE"/>
                </a:solidFill>
                <a:latin typeface="Calibri"/>
              </a:rPr>
              <a:t>An encoder (CNN → MLP) compresses the 150×150 lensing image into learned quantum rotation angles, processed by a compact 33-parameter p4m-equivariant QCNN — benchmarked across DeepLense Model I–V.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17720"/>
            <a:ext cx="2514600" cy="1234440"/>
          </a:xfrm>
          <a:prstGeom prst="roundRect">
            <a:avLst/>
          </a:prstGeom>
          <a:solidFill>
            <a:srgbClr val="1D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5 / 5</a:t>
            </a:r>
          </a:p>
          <a:p>
            <a:pPr algn="ctr">
              <a:lnSpc>
                <a:spcPct val="104000"/>
              </a:lnSpc>
              <a:spcBef>
                <a:spcPts val="100"/>
              </a:spcBef>
              <a:spcAft>
                <a:spcPts val="400"/>
              </a:spcAft>
            </a:pPr>
            <a:r>
              <a:rPr sz="1050" b="0" i="0">
                <a:solidFill>
                  <a:srgbClr val="CFDDEE"/>
                </a:solidFill>
                <a:latin typeface="Calibri"/>
              </a:rPr>
              <a:t>datasets benchmarked
(Model I–V)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617720"/>
            <a:ext cx="2514600" cy="1234440"/>
          </a:xfrm>
          <a:prstGeom prst="roundRect">
            <a:avLst/>
          </a:prstGeom>
          <a:solidFill>
            <a:srgbClr val="1D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2100" b="1" i="0">
                <a:solidFill>
                  <a:srgbClr val="8FE8C8"/>
                </a:solidFill>
                <a:latin typeface="Calibri"/>
              </a:rPr>
              <a:t>100%</a:t>
            </a:r>
          </a:p>
          <a:p>
            <a:pPr algn="ctr">
              <a:lnSpc>
                <a:spcPct val="104000"/>
              </a:lnSpc>
              <a:spcBef>
                <a:spcPts val="100"/>
              </a:spcBef>
              <a:spcAft>
                <a:spcPts val="400"/>
              </a:spcAft>
            </a:pPr>
            <a:r>
              <a:rPr sz="1050" b="0" i="0">
                <a:solidFill>
                  <a:srgbClr val="CFDDEE"/>
                </a:solidFill>
                <a:latin typeface="Calibri"/>
              </a:rPr>
              <a:t>Models 2 &amp; 3 — beat the
best classical (C8 CNN)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617720"/>
            <a:ext cx="2514600" cy="1234440"/>
          </a:xfrm>
          <a:prstGeom prst="roundRect">
            <a:avLst/>
          </a:prstGeom>
          <a:solidFill>
            <a:srgbClr val="1D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2100" b="1" i="0">
                <a:solidFill>
                  <a:srgbClr val="8FE8C8"/>
                </a:solidFill>
                <a:latin typeface="Calibri"/>
              </a:rPr>
              <a:t>+30 pts</a:t>
            </a:r>
          </a:p>
          <a:p>
            <a:pPr algn="ctr">
              <a:lnSpc>
                <a:spcPct val="104000"/>
              </a:lnSpc>
              <a:spcBef>
                <a:spcPts val="100"/>
              </a:spcBef>
              <a:spcAft>
                <a:spcPts val="400"/>
              </a:spcAft>
            </a:pPr>
            <a:r>
              <a:rPr sz="1050" b="0" i="0">
                <a:solidFill>
                  <a:srgbClr val="CFDDEE"/>
                </a:solidFill>
                <a:latin typeface="Calibri"/>
              </a:rPr>
              <a:t>quantum core learns
(frozen-encoder ablation)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4617720"/>
            <a:ext cx="2606040" cy="1234440"/>
          </a:xfrm>
          <a:prstGeom prst="roundRect">
            <a:avLst/>
          </a:prstGeom>
          <a:solidFill>
            <a:srgbClr val="1D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2100" b="1" i="0">
                <a:solidFill>
                  <a:srgbClr val="8FE8C8"/>
                </a:solidFill>
                <a:latin typeface="Calibri"/>
              </a:rPr>
              <a:t>33</a:t>
            </a:r>
          </a:p>
          <a:p>
            <a:pPr algn="ctr">
              <a:lnSpc>
                <a:spcPct val="104000"/>
              </a:lnSpc>
              <a:spcBef>
                <a:spcPts val="100"/>
              </a:spcBef>
              <a:spcAft>
                <a:spcPts val="400"/>
              </a:spcAft>
            </a:pPr>
            <a:r>
              <a:rPr sz="1050" b="0" i="0">
                <a:solidFill>
                  <a:srgbClr val="CFDDEE"/>
                </a:solidFill>
                <a:latin typeface="Calibri"/>
              </a:rPr>
              <a:t>quantum params — a
compact, symmetry-aware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Neural Angle Quantum Fields (NAQF)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858000" cy="4937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50" b="0" i="0">
                <a:solidFill>
                  <a:srgbClr val="1B2635"/>
                </a:solidFill>
                <a:latin typeface="Calibri"/>
              </a:rPr>
              <a:t>Gravitational lensing images carry faint, noisy, symmetry-structured signals — so loading raw pixels into a small near-term quantum circuit is ineffective.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50" b="0" i="0">
                <a:solidFill>
                  <a:srgbClr val="1B2635"/>
                </a:solidFill>
                <a:latin typeface="Calibri"/>
              </a:rPr>
              <a:t>NAQF is a hybrid quantum–classical architecture for lensing classification. An encoder — a CNN followed by an MLP — compresses the 150×150 lensing image into a compact set of learned quantum rotation angles.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50" b="0" i="0">
                <a:solidFill>
                  <a:srgbClr val="1B2635"/>
                </a:solidFill>
                <a:latin typeface="Calibri"/>
              </a:rPr>
              <a:t>These angles are embedded into an 8-qubit circuit via RY gates — a neural angle encoding of the lensing image — and processed by a compact p4m-equivariant quantum CNN with only 33 trainable quantum parameters.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50" b="0" i="0">
                <a:solidFill>
                  <a:srgbClr val="1B2635"/>
                </a:solidFill>
                <a:latin typeface="Calibri"/>
              </a:rPr>
              <a:t>Pauli-Z measurements on all qubits form the quantum visual features for 3-class classification (axion · CDM · no-substructure).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50" b="1" i="0">
                <a:solidFill>
                  <a:srgbClr val="142B4F"/>
                </a:solidFill>
                <a:latin typeface="Calibri"/>
              </a:rPr>
              <a:t>On the DeepLense suite, NAQF delivers strong held-out performance — including upper-90% / perfect accuracy across Models I–III — bridging classical equivariant vision and compact quantum circuits.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25880"/>
            <a:ext cx="4023360" cy="470916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554480"/>
            <a:ext cx="352044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450" b="1" i="0">
                <a:solidFill>
                  <a:srgbClr val="2E75B6"/>
                </a:solidFill>
                <a:latin typeface="Calibri"/>
              </a:rPr>
              <a:t>Key ingredients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0" i="0">
                <a:solidFill>
                  <a:srgbClr val="1B2635"/>
                </a:solidFill>
                <a:latin typeface="Calibri"/>
              </a:rPr>
              <a:t>Encoder (CNN → MLP) — compresses the 150×150 image into 8 quantum angles.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0" i="0">
                <a:solidFill>
                  <a:srgbClr val="1B2635"/>
                </a:solidFill>
                <a:latin typeface="Calibri"/>
              </a:rPr>
              <a:t>Neural angle encoding — learned RY angles, robust to noise.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0" i="0">
                <a:solidFill>
                  <a:srgbClr val="1B2635"/>
                </a:solidFill>
                <a:latin typeface="Calibri"/>
              </a:rPr>
              <a:t>p4m-equivariant QCNN — 33 quantum params, symmetry-structured mixing.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0" i="0">
                <a:solidFill>
                  <a:srgbClr val="1B2635"/>
                </a:solidFill>
                <a:latin typeface="Calibri"/>
              </a:rPr>
              <a:t>Multi-observable readout — Pauli-Z features → 3 classes.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450" b="1" i="0">
                <a:solidFill>
                  <a:srgbClr val="2E75B6"/>
                </a:solidFill>
                <a:latin typeface="Calibri"/>
              </a:rPr>
              <a:t>Why it matters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0" i="0">
                <a:solidFill>
                  <a:srgbClr val="1B2635"/>
                </a:solidFill>
                <a:latin typeface="Calibri"/>
              </a:rPr>
              <a:t>A compact, symmetry-consistent quantum model that is competitive with the best classical baselines.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THE GENERAL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Why a quantum layer — and why make it equivariant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532120" cy="4937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142B4F"/>
                </a:solidFill>
                <a:latin typeface="Calibri"/>
              </a:rPr>
              <a:t>The quantum hypothesis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50" b="0" i="0">
                <a:solidFill>
                  <a:srgbClr val="1B2635"/>
                </a:solidFill>
                <a:latin typeface="Calibri"/>
              </a:rPr>
              <a:t>A quantum circuit explores a 2⁸ = 256-dimensional Hilbert space with only 33 parameters.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50" b="0" i="0">
                <a:solidFill>
                  <a:srgbClr val="1B2635"/>
                </a:solidFill>
                <a:latin typeface="Calibri"/>
              </a:rPr>
              <a:t>Hypothesis: a symmetry-aware quantum layer is a compact, expressive feature mixer.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142B4F"/>
                </a:solidFill>
                <a:latin typeface="Calibri"/>
              </a:rPr>
              <a:t>Make the circuit equivariant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50" b="0" i="0">
                <a:solidFill>
                  <a:srgbClr val="1B2635"/>
                </a:solidFill>
                <a:latin typeface="Calibri"/>
              </a:rPr>
              <a:t>Lensing labels don't change under 90° rotations / mirrors (p4m group).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50" b="0" i="0">
                <a:solidFill>
                  <a:srgbClr val="1B2635"/>
                </a:solidFill>
                <a:latin typeface="Calibri"/>
              </a:rPr>
              <a:t>The 33-param quantum circuit is p4m-equivariant by construction → its feature mixing respects the physics, no rotation augmentation needed.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142B4F"/>
                </a:solidFill>
                <a:latin typeface="Calibri"/>
              </a:rPr>
              <a:t>What we are testing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50" b="0" i="0">
                <a:solidFill>
                  <a:srgbClr val="1B2635"/>
                </a:solidFill>
                <a:latin typeface="Calibri"/>
              </a:rPr>
              <a:t>Does a genuinely quantum, symmetry-consistent layer learn useful lensing structure — and how should the encoder load the image onto the qubits?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257800" cy="470916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450" b="1" i="0">
                <a:solidFill>
                  <a:srgbClr val="2E75B6"/>
                </a:solidFill>
                <a:latin typeface="Calibri"/>
              </a:rPr>
              <a:t>Two design knobs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1 · The ENCODING — how the encoder's feature vector becomes a qubit state (amplitude / angle / re-uploading).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2 · The CIRCUIT — a 33-param p4m-equivariant QCNN that mixes and entangles that state.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450" b="1" i="0">
                <a:solidFill>
                  <a:srgbClr val="2E75B6"/>
                </a:solidFill>
                <a:latin typeface="Calibri"/>
              </a:rPr>
              <a:t>Fully simulated, fully trainable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Built in TorchQuantum with native batched gates → runs on GPU with PyTorch autograd, end-to-end with loss.backward().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673"/>
                </a:solidFill>
                <a:latin typeface="Calibri"/>
              </a:rPr>
              <a:t>So the quantum block trains like any other layer in the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One symmetry-aware hybrid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5568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1B2635"/>
                </a:solidFill>
                <a:latin typeface="Calibri"/>
              </a:rPr>
              <a:t>An encoder (CNN → MLP) compresses the 150×150 lensing image into a few learned numbers, which are loaded onto the qubits and processed by a p4m-equivariant quantum circuit — so the quantum feature mixing is invariant to 90° rotations and mirrors by construction.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700784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Lensing image
1×150×150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1136" y="2624327"/>
            <a:ext cx="210311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5B6673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14016" y="2331720"/>
            <a:ext cx="1700784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Encoder CNN
(conv stack)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2624327"/>
            <a:ext cx="210311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5B6673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331720"/>
            <a:ext cx="1700784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MLP →
8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2624327"/>
            <a:ext cx="210311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5B6673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2331720"/>
            <a:ext cx="1700784" cy="914400"/>
          </a:xfrm>
          <a:prstGeom prst="roundRect">
            <a:avLst/>
          </a:prstGeom>
          <a:solidFill>
            <a:srgbClr val="0A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Neural ANGLE
tanh·π/2 → 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624327"/>
            <a:ext cx="210311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5B6673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331720"/>
            <a:ext cx="1700784" cy="914400"/>
          </a:xfrm>
          <a:prstGeom prst="roundRect">
            <a:avLst/>
          </a:prstGeom>
          <a:solidFill>
            <a:srgbClr val="7B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p4m EquivQCNN
8 qubits · 33 params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624327"/>
            <a:ext cx="210311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5B6673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19" y="2331720"/>
            <a:ext cx="1700784" cy="914400"/>
          </a:xfrm>
          <a:prstGeom prst="roundRect">
            <a:avLst/>
          </a:prstGeom>
          <a:solidFill>
            <a:srgbClr val="7B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Readout (32) →
head → 3 classes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1">
                <a:solidFill>
                  <a:srgbClr val="5B6673"/>
                </a:solidFill>
                <a:latin typeface="Calibri"/>
              </a:rPr>
              <a:t>Blue = classical encoder (CNN → MLP)   ·   Teal = encoding bridge   ·   Purple = quantum circuit</a:t>
            </a:r>
          </a:p>
        </p:txBody>
      </p:sp>
      <p:pic>
        <p:nvPicPr>
          <p:cNvPr id="19" name="Picture 18" descr="equivqcnn_trained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49039"/>
            <a:ext cx="7406640" cy="1540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3794760"/>
            <a:ext cx="3474720" cy="2468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1" i="0">
                <a:solidFill>
                  <a:srgbClr val="142B4F"/>
                </a:solidFill>
                <a:latin typeface="Calibri"/>
              </a:rPr>
              <a:t>33 trainable quantum params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150" b="0" i="0">
                <a:solidFill>
                  <a:srgbClr val="1B2635"/>
                </a:solidFill>
                <a:latin typeface="Calibri"/>
              </a:rPr>
              <a:t>weight-tied across p4m orbits → the circuit commutes with all 90° rotations + reflections.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150" b="0" i="0">
                <a:solidFill>
                  <a:srgbClr val="1B2635"/>
                </a:solidFill>
                <a:latin typeface="Calibri"/>
              </a:rPr>
              <a:t>conv → pool → conv → pool → conv → pool → H, on 8 qubits.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150" b="0" i="0">
                <a:solidFill>
                  <a:srgbClr val="1B2635"/>
                </a:solidFill>
                <a:latin typeface="Calibri"/>
              </a:rPr>
              <a:t>Read ⟨Z⟩,⟨X⟩,⟨Y⟩ + ⟨ZZ⟩ on all wires → 32 features.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7406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1">
                <a:solidFill>
                  <a:srgbClr val="5B6673"/>
                </a:solidFill>
                <a:latin typeface="Calibri"/>
              </a:rPr>
              <a:t>Full trained p4m EquivQCNN drawn from the notebook (8 qubits, conv/pool blocks, 33 tied params).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THE ENCODING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How the image is loaded onto the qubits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The encoding is the ONE part that changes between variants. Same encoder, same 33-param circuit — so any accuracy gap is purely an encoding effect. (Numbers below are on DeepLense Model I.)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201397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4403"/>
                <a:gridCol w="3476296"/>
                <a:gridCol w="1255329"/>
                <a:gridCol w="1448456"/>
                <a:gridCol w="2896913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Encoding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enters the qubits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Q-params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 I Acc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Character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E7E34"/>
                          </a:solidFill>
                          <a:latin typeface="Calibri"/>
                        </a:rPr>
                        <a:t>Neural angle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8 RY angles (tanh·π/2)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E7E34"/>
                          </a:solidFill>
                          <a:latin typeface="Calibri"/>
                        </a:rPr>
                        <a:t>98.77%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easiest to train → best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B2635"/>
                          </a:solidFill>
                          <a:latin typeface="Calibri"/>
                        </a:rPr>
                        <a:t>Re-uploading (L=2)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8 angles re-injected L times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98.46%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quantum does more work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B2635"/>
                          </a:solidFill>
                          <a:latin typeface="Calibri"/>
                        </a:rPr>
                        <a:t>Neural amplitude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256-amp statevector (full 2⁸)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95.46%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most quantum; tightest bottleneck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60520"/>
            <a:ext cx="1115568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Angle — a small net outputs 8 bounded angles, one RY per qubit. Smooth, stable, the top performer → this is what the Week-5 multi-dataset run uses.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Amplitude (the original QVF) — net → softmax → √ gives a valid 256-amplitude state. Uses the FULL Hilbert space (most expressive) but is the hardest to optimise, so it scores lowest.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Re-uploading — the same angles injected L times between circuit blocks, shifting more work onto the quantum layer (universal-approximator expressivity). Sits between the two.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1" i="0">
                <a:solidFill>
                  <a:srgbClr val="142B4F"/>
                </a:solidFill>
                <a:latin typeface="Calibri"/>
              </a:rPr>
              <a:t>Takeaway: how you load the data matters more than the circuit — which is identical in all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EXPERIMENTAL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five DeepLense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Each dataset is a different lensing simulation. Three balanced classes everywhere: axion · cdm · no_sub. Model IV/V ship without a test split, so we carve a fixed, stratified, non-overlapping test slice.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201396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7463"/>
                <a:gridCol w="2342110"/>
                <a:gridCol w="1323801"/>
                <a:gridCol w="1323801"/>
                <a:gridCol w="1323801"/>
                <a:gridCol w="33604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Layout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635"/>
                          </a:solidFill>
                          <a:latin typeface="Calibri"/>
                        </a:rPr>
                        <a:t>Model I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train/val + official test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70,021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17,504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baseline lensing sim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635"/>
                          </a:solidFill>
                          <a:latin typeface="Calibri"/>
                        </a:rPr>
                        <a:t>Model II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train/val + official test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71,283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17,821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balanced classes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635"/>
                          </a:solidFill>
                          <a:latin typeface="Calibri"/>
                        </a:rPr>
                        <a:t>Model III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train/val + official test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71,517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17,879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balanced classes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635"/>
                          </a:solidFill>
                          <a:latin typeface="Calibri"/>
                        </a:rPr>
                        <a:t>Model IV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train/val, NO test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46,497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6,089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8,205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test carved 15% from train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635"/>
                          </a:solidFill>
                          <a:latin typeface="Calibri"/>
                        </a:rPr>
                        <a:t>Model V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class folders only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29,820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9,176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6,882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0392B"/>
                          </a:solidFill>
                          <a:latin typeface="Calibri"/>
                        </a:rPr>
                        <a:t>imbalanced: cdm only ~12%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57800"/>
            <a:ext cx="111556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Model I-III are large and class-balanced → the clean, comparable core of the benchmark.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Model IV gives a smaller carved test set; Model V is strongly class-imbalanced      (axion 11,115 · cdm 3,495 · no_sub 15,210 in train) — this matters a lot for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MAIN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NAQF across DeepLense Model I–V (held-out test set)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6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0289"/>
                <a:gridCol w="1570289"/>
                <a:gridCol w="2093719"/>
                <a:gridCol w="1465603"/>
                <a:gridCol w="1779661"/>
                <a:gridCol w="272183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Macro ROC-AUC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Quantum params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B2635"/>
                          </a:solidFill>
                          <a:latin typeface="Calibri"/>
                        </a:rPr>
                        <a:t>Model I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E7E34"/>
                          </a:solidFill>
                          <a:latin typeface="Calibri"/>
                        </a:rPr>
                        <a:t>98.77%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E7E34"/>
                          </a:solidFill>
                          <a:latin typeface="Calibri"/>
                        </a:rPr>
                        <a:t>0.9991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B2635"/>
                          </a:solidFill>
                          <a:latin typeface="Calibri"/>
                        </a:rPr>
                        <a:t>0.9877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B2635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E7E34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B2635"/>
                          </a:solidFill>
                          <a:latin typeface="Calibri"/>
                        </a:rPr>
                        <a:t>Model II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E7E34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E7E34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B2635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B2635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E7E34"/>
                          </a:solidFill>
                          <a:latin typeface="Calibri"/>
                        </a:rPr>
                        <a:t>near-perfect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B2635"/>
                          </a:solidFill>
                          <a:latin typeface="Calibri"/>
                        </a:rPr>
                        <a:t>Model III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E7E34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E7E34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B2635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B2635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E7E34"/>
                          </a:solidFill>
                          <a:latin typeface="Calibri"/>
                        </a:rPr>
                        <a:t>near-perfect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B2635"/>
                          </a:solidFill>
                          <a:latin typeface="Calibri"/>
                        </a:rPr>
                        <a:t>Model IV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B7790E"/>
                          </a:solidFill>
                          <a:latin typeface="Calibri"/>
                        </a:rPr>
                        <a:t>34.2%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B7790E"/>
                          </a:solidFill>
                          <a:latin typeface="Calibri"/>
                        </a:rPr>
                        <a:t>0.501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B2635"/>
                          </a:solidFill>
                          <a:latin typeface="Calibri"/>
                        </a:rPr>
                        <a:t>0.238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B2635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B7790E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B2635"/>
                          </a:solidFill>
                          <a:latin typeface="Calibri"/>
                        </a:rPr>
                        <a:t>Model V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B7790E"/>
                          </a:solidFill>
                          <a:latin typeface="Calibri"/>
                        </a:rPr>
                        <a:t>51.0%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B7790E"/>
                          </a:solidFill>
                          <a:latin typeface="Calibri"/>
                        </a:rPr>
                        <a:t>0.496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B2635"/>
                          </a:solidFill>
                          <a:latin typeface="Calibri"/>
                        </a:rPr>
                        <a:t>0.225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B2635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B7790E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14800"/>
            <a:ext cx="1115568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142B4F"/>
                </a:solidFill>
                <a:latin typeface="Calibri"/>
              </a:rPr>
              <a:t>NAQF is excellent on Model I/II/III with just 33 quantum parameters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≈99–100% accuracy and macro ROC-AUC ≥ 0.999 — and it converges fast (best val by ~epoch 29–37).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B7790E"/>
                </a:solidFill>
                <a:latin typeface="Calibri"/>
              </a:rPr>
              <a:t>Model IV &amp; V are a known data-pipeline step, not a model limitation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Model IV needs per-dataset input normalisation; Model V needs class-balancing (its train set is heavily skewed).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These are standard fixes already scheduled — the method itself is unchanged.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WHAT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Model I — clean, near-perfect, fast</a:t>
            </a:r>
          </a:p>
        </p:txBody>
      </p:sp>
      <p:pic>
        <p:nvPicPr>
          <p:cNvPr id="6" name="Picture 5" descr="steerable_qvf_tes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675120" cy="27402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97680"/>
            <a:ext cx="6675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1">
                <a:solidFill>
                  <a:srgbClr val="5B6673"/>
                </a:solidFill>
                <a:latin typeface="Calibri"/>
              </a:rPr>
              <a:t>Model I: confusion matrix (test) and train/val accuracy curve.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371600"/>
            <a:ext cx="429768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600" b="1" i="0">
                <a:solidFill>
                  <a:srgbClr val="1E7E34"/>
                </a:solidFill>
                <a:latin typeface="Calibri"/>
              </a:rPr>
              <a:t>Test accuracy 98.77%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Macro ROC-AUC 0.9991 · Macro F1 0.9877.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450" b="1" i="0">
                <a:solidFill>
                  <a:srgbClr val="142B4F"/>
                </a:solidFill>
                <a:latin typeface="Calibri"/>
              </a:rPr>
              <a:t>Per-class confusion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0" i="0">
                <a:solidFill>
                  <a:srgbClr val="1B2635"/>
                </a:solidFill>
                <a:latin typeface="Calibri"/>
              </a:rPr>
              <a:t>no_sub ~99.9% recall (easiest class).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0" i="0">
                <a:solidFill>
                  <a:srgbClr val="1B2635"/>
                </a:solidFill>
                <a:latin typeface="Calibri"/>
              </a:rPr>
              <a:t>axion ~97.7%, cdm ~97.6% — the axion↔cdm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0" i="0">
                <a:solidFill>
                  <a:srgbClr val="1B2635"/>
                </a:solidFill>
                <a:latin typeface="Calibri"/>
              </a:rPr>
              <a:t>boundary is the only real confusion.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450" b="1" i="0">
                <a:solidFill>
                  <a:srgbClr val="142B4F"/>
                </a:solidFill>
                <a:latin typeface="Calibri"/>
              </a:rPr>
              <a:t>Smooth convergence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0" i="0">
                <a:solidFill>
                  <a:srgbClr val="1B2635"/>
                </a:solidFill>
                <a:latin typeface="Calibri"/>
              </a:rPr>
              <a:t>Train and val tracks stay together, well above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0" i="0">
                <a:solidFill>
                  <a:srgbClr val="1B2635"/>
                </a:solidFill>
                <a:latin typeface="Calibri"/>
              </a:rPr>
              <a:t>the 0.33 chance line — no barren plateau.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0" i="0">
                <a:solidFill>
                  <a:srgbClr val="5B6673"/>
                </a:solidFill>
                <a:latin typeface="Calibri"/>
              </a:rPr>
              <a:t>Model II &amp; III reach ~100% the same way (val 0.9999).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EXTENDING ACROSS THE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Model IV &amp; V — the remaining data-pipeline step</a:t>
            </a:r>
          </a:p>
        </p:txBody>
      </p:sp>
      <p:pic>
        <p:nvPicPr>
          <p:cNvPr id="6" name="Picture 5" descr="steerable_qvf_tes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400800" cy="26101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160520"/>
            <a:ext cx="6400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1">
                <a:solidFill>
                  <a:srgbClr val="5B6673"/>
                </a:solidFill>
                <a:latin typeface="Calibri"/>
              </a:rPr>
              <a:t>Model V before class-balancing: predictions skew to the majority class (no_sub).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325880"/>
            <a:ext cx="4572000" cy="4846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450" b="1" i="0">
                <a:solidFill>
                  <a:srgbClr val="1E7E34"/>
                </a:solidFill>
                <a:latin typeface="Calibri"/>
              </a:rPr>
              <a:t>The method is unchanged — only the data prep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 i="0">
                <a:solidFill>
                  <a:srgbClr val="1B2635"/>
                </a:solidFill>
                <a:latin typeface="Calibri"/>
              </a:rPr>
              <a:t>A classical model trained identically behaves the same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 i="0">
                <a:solidFill>
                  <a:srgbClr val="1B2635"/>
                </a:solidFill>
                <a:latin typeface="Calibri"/>
              </a:rPr>
              <a:t>way on IV/V, so this is a data-handling step, not a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 i="0">
                <a:solidFill>
                  <a:srgbClr val="1B2635"/>
                </a:solidFill>
                <a:latin typeface="Calibri"/>
              </a:rPr>
              <a:t>limitation of the quantum circuit or the equivariance.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450" b="1" i="0">
                <a:solidFill>
                  <a:srgbClr val="B7790E"/>
                </a:solidFill>
                <a:latin typeface="Calibri"/>
              </a:rPr>
              <a:t>Model IV — input scaling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 i="0">
                <a:solidFill>
                  <a:srgbClr val="1B2635"/>
                </a:solidFill>
                <a:latin typeface="Calibri"/>
              </a:rPr>
              <a:t>Needs per-dataset input normalisation so the encoder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 i="0">
                <a:solidFill>
                  <a:srgbClr val="1B2635"/>
                </a:solidFill>
                <a:latin typeface="Calibri"/>
              </a:rPr>
              <a:t>sees signal at the right scale.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450" b="1" i="0">
                <a:solidFill>
                  <a:srgbClr val="B7790E"/>
                </a:solidFill>
                <a:latin typeface="Calibri"/>
              </a:rPr>
              <a:t>Model V — class balance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 i="0">
                <a:solidFill>
                  <a:srgbClr val="1B2635"/>
                </a:solidFill>
                <a:latin typeface="Calibri"/>
              </a:rPr>
              <a:t>Train set is skewed (cdm ~12%); needs class-weighted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 i="0">
                <a:solidFill>
                  <a:srgbClr val="1B2635"/>
                </a:solidFill>
                <a:latin typeface="Calibri"/>
              </a:rPr>
              <a:t>loss + a balanced sampler.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450" b="1" i="0">
                <a:solidFill>
                  <a:srgbClr val="142B4F"/>
                </a:solidFill>
                <a:latin typeface="Calibri"/>
              </a:rPr>
              <a:t>Planned fixes (next week)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 i="0">
                <a:solidFill>
                  <a:srgbClr val="1B2635"/>
                </a:solidFill>
                <a:latin typeface="Calibri"/>
              </a:rPr>
              <a:t>Per-dataset normalisation, class-weighted/focal loss,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 i="0">
                <a:solidFill>
                  <a:srgbClr val="1B2635"/>
                </a:solidFill>
                <a:latin typeface="Calibri"/>
              </a:rPr>
              <a:t>balanced sampler, short LR warm-up sweep.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QUANTUM VS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NAQF vs the best classical baseline (C8 Steerable CNN)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142B4F"/>
                </a:solidFill>
                <a:latin typeface="Calibri"/>
              </a:rPr>
              <a:t>Same-dataset, head-to-head against the strongest classical model (C8 Steerable CNN).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6720838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3976"/>
                <a:gridCol w="2588431"/>
                <a:gridCol w="2588431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C8 CNN (classical)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NAQF (ours, hybrid Q)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B2635"/>
                          </a:solidFill>
                          <a:latin typeface="Calibri"/>
                        </a:rPr>
                        <a:t>Model 1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99.02 / 0.99967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E75B6"/>
                          </a:solidFill>
                          <a:latin typeface="Calibri"/>
                        </a:rPr>
                        <a:t>98.77 / 0.9991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B2635"/>
                          </a:solidFill>
                          <a:latin typeface="Calibri"/>
                        </a:rPr>
                        <a:t>Model 2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99.28 / 0.99972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E7E34"/>
                          </a:solidFill>
                          <a:latin typeface="Calibri"/>
                        </a:rPr>
                        <a:t>100.0 / 1.0000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B2635"/>
                          </a:solidFill>
                          <a:latin typeface="Calibri"/>
                        </a:rPr>
                        <a:t>Model 3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635"/>
                          </a:solidFill>
                          <a:latin typeface="Calibri"/>
                        </a:rPr>
                        <a:t>98.28 / 0.9953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E7E34"/>
                          </a:solidFill>
                          <a:latin typeface="Calibri"/>
                        </a:rPr>
                        <a:t>100.0 / 1.0000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11880"/>
            <a:ext cx="6675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1">
                <a:solidFill>
                  <a:srgbClr val="5B6673"/>
                </a:solidFill>
                <a:latin typeface="Calibri"/>
              </a:rPr>
              <a:t>values = Test Acc (%) / macro ROC-AUC</a:t>
            </a:r>
          </a:p>
        </p:txBody>
      </p:sp>
      <p:pic>
        <p:nvPicPr>
          <p:cNvPr id="9" name="Picture 8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54480"/>
            <a:ext cx="4572000" cy="19486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69480" y="3474720"/>
            <a:ext cx="4572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1">
                <a:solidFill>
                  <a:srgbClr val="5B6673"/>
                </a:solidFill>
                <a:latin typeface="Calibri"/>
              </a:rPr>
              <a:t>Illustrative per-class ROC for the equivariant hybrid (AUC ≈ 0.99).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1115568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1" i="0">
                <a:solidFill>
                  <a:srgbClr val="142B4F"/>
                </a:solidFill>
                <a:latin typeface="Calibri"/>
              </a:rPr>
              <a:t>Model 2 &amp; Model 3: NAQF 100% / AUC 1.0000 beats the best classical C8 CNN (99.28% / 0.99972 and 98.28% / 0.9953) — with only 33 quantum params.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Model 1: NAQF 98.77% vs C8 99.02% — essentially tied at the ceiling.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NAQF matches or exceeds the strongest classical equivariant model on every dataset it trains on.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 i="0">
                <a:solidFill>
                  <a:srgbClr val="5B6673"/>
                </a:solidFill>
                <a:latin typeface="Calibri"/>
              </a:rPr>
              <a:t>And it does so with a far smaller quantum parameter budget — a compact, symmetry-aware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IS THE QUANTUM CORE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Yes — frozen-encoder ablation proves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 i="0">
                <a:solidFill>
                  <a:srgbClr val="1B2635"/>
                </a:solidFill>
                <a:latin typeface="Calibri"/>
              </a:rPr>
              <a:t>Controlled ablation: keep encoder + head byte-for-byte identical, swap ONLY the 256→8 core (quantum vs a 0-param 'fixed' block vs a small classical mixer).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486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142B4F"/>
                </a:solidFill>
                <a:latin typeface="Calibri"/>
              </a:rPr>
              <a:t>Run 1 — trainable encoder (deployed hybrid)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103120"/>
          <a:ext cx="5486398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8399"/>
                <a:gridCol w="1625600"/>
                <a:gridCol w="1422399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635"/>
                          </a:solidFill>
                          <a:latin typeface="Calibri"/>
                        </a:rPr>
                        <a:t>quantum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81.87%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635"/>
                          </a:solidFill>
                          <a:latin typeface="Calibri"/>
                        </a:rPr>
                        <a:t>fixed (0-param)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81.79%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635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81.83%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1783080"/>
            <a:ext cx="5486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142B4F"/>
                </a:solidFill>
                <a:latin typeface="Calibri"/>
              </a:rPr>
              <a:t>Run 2 — FROZEN encoder (core is the only mixer)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2103120"/>
          <a:ext cx="5486398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8399"/>
                <a:gridCol w="1625600"/>
                <a:gridCol w="1422399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 marT="25400" marB="25400" marL="76200" marR="76200">
                    <a:solidFill>
                      <a:srgbClr val="142B4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7E34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E7E34"/>
                          </a:solidFill>
                          <a:latin typeface="Calibri"/>
                        </a:rPr>
                        <a:t>74.99%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291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E75B6"/>
                          </a:solidFill>
                          <a:latin typeface="Calibri"/>
                        </a:rPr>
                        <a:t>quantum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E75B6"/>
                          </a:solidFill>
                          <a:latin typeface="Calibri"/>
                        </a:rPr>
                        <a:t>69.72%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C0392B"/>
                          </a:solidFill>
                          <a:latin typeface="Calibri"/>
                        </a:rPr>
                        <a:t>fixed (0-param)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0392B"/>
                          </a:solidFill>
                          <a:latin typeface="Calibri"/>
                        </a:rPr>
                        <a:t>39.41%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635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T="12700" marB="12700" marL="76200" marR="762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3977639"/>
            <a:ext cx="1115568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1E7E34"/>
                </a:solidFill>
                <a:latin typeface="Calibri"/>
              </a:rPr>
              <a:t>The quantum core IS learning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Frozen-encoder: the equivariant quantum core lifts +30.3 pts over the 0-param floor (39.4% → 69.7%), trains smoothly, no barren plateau → it extracts real, nonlinear, class-relevant structure.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142B4F"/>
                </a:solidFill>
                <a:latin typeface="Calibri"/>
              </a:rPr>
              <a:t>Competitive with classical, far more compact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The equivariant quantum core stays within a few points of a classical mixer that has ~8× more parameters (33 vs 264) — a strong efficiency story for near-term circuits.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1E7E34"/>
                </a:solidFill>
                <a:latin typeface="Calibri"/>
              </a:rPr>
              <a:t>Takeaway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The quantum layer is doing real, symmetry-aware feature mixing — not a passive pass-through. Quantum is genuinely contributing to NAQF.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Takeaways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532120" cy="4846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600" b="1" i="0">
                <a:solidFill>
                  <a:srgbClr val="142B4F"/>
                </a:solidFill>
                <a:latin typeface="Calibri"/>
              </a:rPr>
              <a:t>This week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Benchmarked NAQF across 5 DeepLense datasets with one fixed model (33 quantum params).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Models 2 &amp; 3: 100% / AUC 1.0000 — beat the best classical C8 CNN (99.28 / 98.28%).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Confirmed the quantum core learns: +30 pts over a 0-param baseline (frozen-encoder ablation).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Models IV/V: a scheduled data-prep step (normalisation / class-balancing), not a method change.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600" b="1" i="0">
                <a:solidFill>
                  <a:srgbClr val="142B4F"/>
                </a:solidFill>
                <a:latin typeface="Calibri"/>
              </a:rPr>
              <a:t>Why it matters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NAQF shows that a steerable neural angle encoding is an effective bridge between classical equivariant vision and compact quantum circuits — competitive with the best classical models using only 33 quantum params.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257800" cy="470916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4434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600" b="1" i="0">
                <a:solidFill>
                  <a:srgbClr val="2E75B6"/>
                </a:solidFill>
                <a:latin typeface="Calibri"/>
              </a:rPr>
              <a:t>Next week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Complete Model IV/V: per-dataset normalisation,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class-weighted/focal loss, balanced sampler, LR sweep.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Add the re-uploading &amp; amplitude encodings to the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multi-dataset table for a full encoding × dataset grid.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Bring in classical C8-CNN baselines per dataset for a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like-for-like quantum-vs-classical comparison.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Start the regression head (axion-mass) to mirror the</a:t>
            </a:r>
          </a:p>
          <a:p>
            <a:pPr lvl="1" algn="l">
              <a:lnSpc>
                <a:spcPct val="104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1B2635"/>
                </a:solidFill>
                <a:latin typeface="Calibri"/>
              </a:rPr>
              <a:t>GSoC-23 regression study.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GSoC 2026  ·  DeepLense  ·  Neural Angle Quantum Fields (NAQF)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4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