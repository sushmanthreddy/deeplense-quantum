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6984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Calibri"/>
              </a:defRPr>
            </a:pPr>
            <a:r>
              <a:t>Quantum Visual Fields for Gravitational Lensing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 i="0">
                <a:solidFill>
                  <a:srgbClr val="BFD3EE"/>
                </a:solidFill>
                <a:latin typeface="Calibri"/>
              </a:defRPr>
            </a:pPr>
            <a:r>
              <a:t>Rotation-equivariant steerable CNN + neural quantum encodings + p4m equivariant QCNN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Three encoding techniques: Neural Amplitude  |  Neural Angle  |  Data Re-uploading</a:t>
            </a:r>
            <a:br/>
            <a:r>
              <a:t>DeepLense substructure classification (Model_I, 3 classes)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Motivation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DeepLense  ·  quantum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 i="0">
                <a:solidFill>
                  <a:srgbClr val="222222"/>
                </a:solidFill>
                <a:latin typeface="Calibri"/>
              </a:defRPr>
            </a:pPr>
            <a:r>
              <a:t>• Task: classify dark-matter substructure in strong gravitational-lensing images (3 classes: no substructure, CDM, axion).</a:t>
            </a:r>
          </a:p>
          <a:p>
            <a:pPr>
              <a:spcAft>
                <a:spcPts val="600"/>
              </a:spcAft>
              <a:defRPr sz="1900" b="1" i="0">
                <a:solidFill>
                  <a:srgbClr val="222222"/>
                </a:solidFill>
                <a:latin typeface="Calibri"/>
              </a:defRPr>
            </a:pPr>
            <a:r>
              <a:t>• Strong-lensing images have NO preferred orientation -&gt; the label is invariant under rotations and reflections.</a:t>
            </a:r>
          </a:p>
          <a:p>
            <a:pPr lvl="1">
              <a:spcAft>
                <a:spcPts val="600"/>
              </a:spcAft>
              <a:defRPr sz="1700" b="0" i="0">
                <a:solidFill>
                  <a:srgbClr val="595959"/>
                </a:solidFill>
                <a:latin typeface="Calibri"/>
              </a:defRPr>
            </a:pPr>
            <a:r>
              <a:t>– Equivariance is the right inductive bias: bake the symmetry into the network instead of learning rotated copies.</a:t>
            </a:r>
          </a:p>
          <a:p>
            <a:pPr>
              <a:spcAft>
                <a:spcPts val="600"/>
              </a:spcAft>
              <a:defRPr sz="1900" b="1" i="0">
                <a:solidFill>
                  <a:srgbClr val="222222"/>
                </a:solidFill>
                <a:latin typeface="Calibri"/>
              </a:defRPr>
            </a:pPr>
            <a:r>
              <a:t>• Goal: a genuinely QUANTUM classifier that is competitive with the strong classical C8 steerable CNN baseline.</a:t>
            </a:r>
          </a:p>
          <a:p>
            <a:pPr lvl="1">
              <a:spcAft>
                <a:spcPts val="600"/>
              </a:spcAft>
              <a:defRPr sz="1700" b="0" i="0">
                <a:solidFill>
                  <a:srgbClr val="595959"/>
                </a:solidFill>
                <a:latin typeface="Calibri"/>
              </a:defRPr>
            </a:pPr>
            <a:r>
              <a:t>– Key question: how do we feed a lensing image into a small qubit register, and how 'quantum' is each choice?</a:t>
            </a:r>
          </a:p>
          <a:p>
            <a:pPr>
              <a:spcAft>
                <a:spcPts val="600"/>
              </a:spcAft>
              <a:defRPr sz="1900" b="1" i="0">
                <a:solidFill>
                  <a:srgbClr val="222222"/>
                </a:solidFill>
                <a:latin typeface="Calibri"/>
              </a:defRPr>
            </a:pPr>
            <a:r>
              <a:t>• Contribution: one steerable-CNN front-end + a single p4m equivariant quantum circuit, with THREE switchable neural encodings.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End-to-End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image -&gt; equivariant features -&gt; quantum encoding -&gt; QCNN -&gt; class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828800"/>
            <a:ext cx="1755648" cy="13716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Lensing image</a:t>
            </a:r>
            <a:br/>
            <a:r>
              <a:t>1 x H x W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029968" y="23774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12848" y="1828800"/>
            <a:ext cx="1755648" cy="13716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C8 / D8 Steerable CNN</a:t>
            </a:r>
            <a:br/>
            <a:r>
              <a:t>(e2cnn, equivariant)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68496" y="23774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51376" y="1828800"/>
            <a:ext cx="1755648" cy="13716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GroupPooling</a:t>
            </a:r>
            <a:br/>
            <a:r>
              <a:t>-&gt; invariant vector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07024" y="23774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89904" y="1828800"/>
            <a:ext cx="1755648" cy="1371600"/>
          </a:xfrm>
          <a:prstGeom prst="roundRect">
            <a:avLst/>
          </a:prstGeom>
          <a:solidFill>
            <a:srgbClr val="1288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Neural ENCODING</a:t>
            </a:r>
            <a:br/>
            <a:r>
              <a:t>amplitude / angle / reupload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5552" y="23774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28432" y="1828800"/>
            <a:ext cx="1755648" cy="137160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p4m EquivQCNN</a:t>
            </a:r>
            <a:br/>
            <a:r>
              <a:t>33 quantum params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84080" y="23774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966960" y="1828800"/>
            <a:ext cx="1755648" cy="137160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Readout + Head</a:t>
            </a:r>
            <a:br/>
            <a:r>
              <a:t>-&gt; 3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520440"/>
            <a:ext cx="11612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 i="1">
                <a:solidFill>
                  <a:srgbClr val="595959"/>
                </a:solidFill>
                <a:latin typeface="Calibri"/>
              </a:defRPr>
            </a:pPr>
            <a:r>
              <a:t>Blue = classical (equivariant CNN)   ·   Teal = encoding bridge   ·   Purple = quantum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9768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 i="0">
                <a:solidFill>
                  <a:srgbClr val="222222"/>
                </a:solidFill>
                <a:latin typeface="Calibri"/>
              </a:defRPr>
            </a:pPr>
            <a:r>
              <a:t>• The steerable CNN is the shared feature extractor; only the ENCODING block changes between the three variants.</a:t>
            </a:r>
          </a:p>
          <a:p>
            <a:pPr>
              <a:spcAft>
                <a:spcPts val="600"/>
              </a:spcAft>
              <a:defRPr sz="1600" b="1" i="0">
                <a:solidFill>
                  <a:srgbClr val="222222"/>
                </a:solidFill>
                <a:latin typeface="Calibri"/>
              </a:defRPr>
            </a:pPr>
            <a:r>
              <a:t>• Optional hybrid residual: the invariant CNN vector is also concatenated into the head (flag-gated).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Equivariant Front-End: Steerable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C8 / D8  ·  e2cnn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1" i="0">
                <a:solidFill>
                  <a:srgbClr val="222222"/>
                </a:solidFill>
                <a:latin typeface="Calibri"/>
              </a:defRPr>
            </a:pPr>
            <a:r>
              <a:t>• e2cnn R2Conv blocks on the rotation group C8 (or D8 with mirrors) -&gt; rotation-equivariant feature maps.</a:t>
            </a:r>
          </a:p>
          <a:p>
            <a:pPr lvl="1">
              <a:spcAft>
                <a:spcPts val="600"/>
              </a:spcAft>
              <a:defRPr sz="1700" b="0" i="0">
                <a:solidFill>
                  <a:srgbClr val="595959"/>
                </a:solidFill>
                <a:latin typeface="Calibri"/>
              </a:defRPr>
            </a:pPr>
            <a:r>
              <a:t>– InnerBatchNorm + ReLU + antialiased pooling, mirroring the proven GSoC C8SteerableCNN design.</a:t>
            </a:r>
          </a:p>
          <a:p>
            <a:pPr>
              <a:spcAft>
                <a:spcPts val="600"/>
              </a:spcAft>
              <a:defRPr sz="1900" b="1" i="0">
                <a:solidFill>
                  <a:srgbClr val="222222"/>
                </a:solidFill>
                <a:latin typeface="Calibri"/>
              </a:defRPr>
            </a:pPr>
            <a:r>
              <a:t>• GroupPooling collapses each regular-rep field to a single rotation/reflection-INVARIANT scalar.</a:t>
            </a:r>
          </a:p>
          <a:p>
            <a:pPr lvl="1">
              <a:spcAft>
                <a:spcPts val="600"/>
              </a:spcAft>
              <a:defRPr sz="1700" b="0" i="0">
                <a:solidFill>
                  <a:srgbClr val="595959"/>
                </a:solidFill>
                <a:latin typeface="Calibri"/>
              </a:defRPr>
            </a:pPr>
            <a:r>
              <a:t>– Global average pool -&gt; a compact invariant feature vector that summarises the lens, orientation-free.</a:t>
            </a:r>
          </a:p>
          <a:p>
            <a:pPr>
              <a:spcAft>
                <a:spcPts val="600"/>
              </a:spcAft>
              <a:defRPr sz="1900" b="1" i="0">
                <a:solidFill>
                  <a:srgbClr val="222222"/>
                </a:solidFill>
                <a:latin typeface="Calibri"/>
              </a:defRPr>
            </a:pPr>
            <a:r>
              <a:t>• This vector is the input to ALL three encodings -&gt; a fair, shared backbone for the comparison.</a:t>
            </a:r>
          </a:p>
          <a:p>
            <a:pPr>
              <a:spcAft>
                <a:spcPts val="600"/>
              </a:spcAft>
              <a:defRPr sz="1900" b="1" i="0">
                <a:solidFill>
                  <a:srgbClr val="222222"/>
                </a:solidFill>
                <a:latin typeface="Calibri"/>
              </a:defRPr>
            </a:pPr>
            <a:r>
              <a:t>• Why it matters: the class is orientation-invariant, so equivariance gives sample efficiency and fewer params.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Three Neural Quantum Encodings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one switch: ENCODING = amplitude | angle | reupload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Encoding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enters the qubits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Quantum params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Character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Amplitude (QVF)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256-dim statevector (softmax-&gt;sqrt)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Most quantum; full 2^8 Hilbert space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8 RY angles (tanh -&gt; pi/2)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equiqnn-style; easiest to 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Re-uploading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L x 8 angles, re-injected L times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33 x L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Balanced; quantum carries more work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" y="3840480"/>
            <a:ext cx="111556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All three share the SAME steerable CNN and the SAME 33-param p4m circuit body.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'Neural' = a trainable network produces the amplitudes/angles (not raw pixels).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In every case the encoding only LOADS the data; the quantum circuit is what learns to classify.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Encoding: Traditional vs. Neural (what we adopted)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fixed formula  vs.  learned, symmetry-aware 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42B4F"/>
                </a:solidFill>
                <a:latin typeface="Calibri"/>
              </a:defRPr>
            </a:pPr>
            <a:r>
              <a:t>Traditional quantum encodings (fixed map from raw pixels):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222222"/>
                </a:solidFill>
                <a:latin typeface="Calibri"/>
              </a:defRPr>
            </a:pPr>
            <a:r>
              <a:t>• Basis encoding: bits -&gt; |state&gt;; needs one qubit per bit (wasteful).</a:t>
            </a:r>
          </a:p>
          <a:p>
            <a:pPr>
              <a:spcAft>
                <a:spcPts val="600"/>
              </a:spcAft>
              <a:defRPr sz="1500" b="1" i="0">
                <a:solidFill>
                  <a:srgbClr val="222222"/>
                </a:solidFill>
                <a:latin typeface="Calibri"/>
              </a:defRPr>
            </a:pPr>
            <a:r>
              <a:t>• Angle encoding (fixed): raw pixel -&gt; rotation angle; no adaptivity.</a:t>
            </a:r>
          </a:p>
          <a:p>
            <a:pPr>
              <a:spcAft>
                <a:spcPts val="600"/>
              </a:spcAft>
              <a:defRPr sz="1500" b="1" i="0">
                <a:solidFill>
                  <a:srgbClr val="222222"/>
                </a:solidFill>
                <a:latin typeface="Calibri"/>
              </a:defRPr>
            </a:pPr>
            <a:r>
              <a:t>• Amplitude encoding (fixed): flatten + normalise pixels -&gt; squashes faint lensing arcs into near-identical states.</a:t>
            </a:r>
          </a:p>
          <a:p>
            <a:pPr lvl="1">
              <a:spcAft>
                <a:spcPts val="600"/>
              </a:spcAft>
              <a:defRPr sz="1300" b="0" i="0">
                <a:solidFill>
                  <a:srgbClr val="595959"/>
                </a:solidFill>
                <a:latin typeface="Calibri"/>
              </a:defRPr>
            </a:pPr>
            <a:r>
              <a:t>– Zero trainable params in the encoding (e.g. the sin+normalise map in EQNN-for-HEP).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6F2DA8"/>
                </a:solidFill>
                <a:latin typeface="Calibri"/>
              </a:defRPr>
            </a:pPr>
            <a:r>
              <a:t>Our adopted NEURAL encodings (a trainable equivariant network sets the qubits):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222222"/>
                </a:solidFill>
                <a:latin typeface="Calibri"/>
              </a:defRPr>
            </a:pPr>
            <a:r>
              <a:t>• Neural amplitude: net -&gt; softmax -&gt; sqrt = a valid statevector the model LEARNS (not raw pixels).</a:t>
            </a:r>
          </a:p>
          <a:p>
            <a:pPr>
              <a:spcAft>
                <a:spcPts val="600"/>
              </a:spcAft>
              <a:defRPr sz="1500" b="1" i="0">
                <a:solidFill>
                  <a:srgbClr val="222222"/>
                </a:solidFill>
                <a:latin typeface="Calibri"/>
              </a:defRPr>
            </a:pPr>
            <a:r>
              <a:t>• Neural angle: net -&gt; learned bounded angles (tanh x pi/2) -&gt; RY; the dials are learned features.</a:t>
            </a:r>
          </a:p>
          <a:p>
            <a:pPr>
              <a:spcAft>
                <a:spcPts val="600"/>
              </a:spcAft>
              <a:defRPr sz="1500" b="1" i="0">
                <a:solidFill>
                  <a:srgbClr val="222222"/>
                </a:solidFill>
                <a:latin typeface="Calibri"/>
              </a:defRPr>
            </a:pPr>
            <a:r>
              <a:t>• Neural re-uploading: those learned angles re-injected across layers for more quantum expressivity.</a:t>
            </a:r>
          </a:p>
          <a:p>
            <a:pPr lvl="1">
              <a:spcAft>
                <a:spcPts val="600"/>
              </a:spcAft>
              <a:defRPr sz="1300" b="0" i="0">
                <a:solidFill>
                  <a:srgbClr val="595959"/>
                </a:solidFill>
                <a:latin typeface="Calibri"/>
              </a:defRPr>
            </a:pPr>
            <a:r>
              <a:t>– Wins: preserves faint-signal contrast, symmetry-aware by construction, valid state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Encoding 1 - Neural Amplitude Encoding (QVF)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softmax -&gt; sqrt -&gt; AmplitudeEmbedding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2057400" cy="9144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invariant</a:t>
            </a:r>
            <a:br/>
            <a:r>
              <a:t>vector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31720" y="16916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06039" y="1371600"/>
            <a:ext cx="2057400" cy="9144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MLP -&gt;</a:t>
            </a:r>
            <a:br/>
            <a:r>
              <a:t>256 logits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63439" y="16916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937759" y="1371600"/>
            <a:ext cx="2057400" cy="914400"/>
          </a:xfrm>
          <a:prstGeom prst="roundRect">
            <a:avLst/>
          </a:prstGeom>
          <a:solidFill>
            <a:srgbClr val="1288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softmax</a:t>
            </a:r>
            <a:br/>
            <a:r>
              <a:t>(prob. simplex)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95159" y="16916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269479" y="1371600"/>
            <a:ext cx="2057400" cy="914400"/>
          </a:xfrm>
          <a:prstGeom prst="roundRect">
            <a:avLst/>
          </a:prstGeom>
          <a:solidFill>
            <a:srgbClr val="1288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sqrt</a:t>
            </a:r>
            <a:br/>
            <a:r>
              <a:t>-&gt; amplitudes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26879" y="16916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601200" y="1371600"/>
            <a:ext cx="2057400" cy="91440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Amplitude</a:t>
            </a:r>
            <a:br/>
            <a:r>
              <a:t>Embedding (8q)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Network outputs 256 numbers -&gt; softmax makes a probability vector -&gt; sqrt gives a valid statevector (sum a_i^2 = 1).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Encodes log2(256) = 8 features-per-qubit worth of info: uses the FULL exponential Hilbert space.</a:t>
            </a:r>
          </a:p>
          <a:p>
            <a:pPr lvl="1">
              <a:spcAft>
                <a:spcPts val="600"/>
              </a:spcAft>
              <a:defRPr sz="1500" b="0" i="0">
                <a:solidFill>
                  <a:srgbClr val="595959"/>
                </a:solidFill>
                <a:latin typeface="Calibri"/>
              </a:defRPr>
            </a:pPr>
            <a:r>
              <a:t>– Most 'quantum' encoding, but the tightest bottleneck -&gt; harder optimisation (sensitive, needs care).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Readout widened to &lt;Z&gt;,&lt;X&gt;,&lt;Y&gt; + &lt;ZZ&gt; to extract more signal from the 256-amplitude 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Encoding 2 - Neural Angle Encoding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tanh -&gt; pi/2 -&gt; RY per qubit (equiqnn-style)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331720" cy="9144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invariant</a:t>
            </a:r>
            <a:br/>
            <a:r>
              <a:t>vector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97480" y="16916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08960" y="1371600"/>
            <a:ext cx="2331720" cy="914400"/>
          </a:xfrm>
          <a:prstGeom prst="round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MLP -&gt;</a:t>
            </a:r>
            <a:br/>
            <a:r>
              <a:t>8 values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440680" y="16916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852160" y="1371600"/>
            <a:ext cx="2331720" cy="914400"/>
          </a:xfrm>
          <a:prstGeom prst="roundRect">
            <a:avLst/>
          </a:prstGeom>
          <a:solidFill>
            <a:srgbClr val="1288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tanh x pi/2</a:t>
            </a:r>
            <a:br/>
            <a:r>
              <a:t>(bounded angles)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183880" y="1691640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1371600"/>
            <a:ext cx="2331720" cy="91440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200" b="1" i="0">
                <a:solidFill>
                  <a:srgbClr val="FFFFFF"/>
                </a:solidFill>
                <a:latin typeface="Calibri"/>
              </a:defRPr>
            </a:pPr>
            <a:r>
              <a:t>RY(theta_i)</a:t>
            </a:r>
            <a:br/>
            <a:r>
              <a:t>on 8 qubits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4320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Network compresses the image to 8 bounded angles; each is one RY rotation that loads the data onto a qubit.</a:t>
            </a:r>
          </a:p>
          <a:p>
            <a:pPr lvl="1">
              <a:spcAft>
                <a:spcPts val="600"/>
              </a:spcAft>
              <a:defRPr sz="1500" b="0" i="0">
                <a:solidFill>
                  <a:srgbClr val="595959"/>
                </a:solidFill>
                <a:latin typeface="Calibri"/>
              </a:defRPr>
            </a:pPr>
            <a:r>
              <a:t>– The encoding only LOADS the data -&gt; the quantum circuit is what learns to classify (entangling + mixing).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Smooth and easy to train -&gt; highest accuracy of the three; frozen test confirms the quantum part learns.</a:t>
            </a:r>
          </a:p>
          <a:p>
            <a:pPr lvl="1">
              <a:spcAft>
                <a:spcPts val="600"/>
              </a:spcAft>
              <a:defRPr sz="1500" b="0" i="0">
                <a:solidFill>
                  <a:srgbClr val="595959"/>
                </a:solidFill>
                <a:latin typeface="Calibri"/>
              </a:defRPr>
            </a:pPr>
            <a:r>
              <a:t>– Same recipe as equiqnn/model_1 (bridge -&gt; tanh -&gt; RY -&gt; QCNN -&gt; post-net).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Head = equiqnn-style post-net: Linear -&gt; ReLU -&gt; Dropout(0.2) -&gt; Linear.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Encoding 3 - Data Re-uploading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angle encoding re-injected L times between circuit blocks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417320"/>
            <a:ext cx="2011680" cy="960120"/>
          </a:xfrm>
          <a:prstGeom prst="roundRect">
            <a:avLst/>
          </a:prstGeom>
          <a:solidFill>
            <a:srgbClr val="1288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encode</a:t>
            </a:r>
            <a:br/>
            <a:r>
              <a:t>angles L1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31720" y="1755648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06040" y="1417320"/>
            <a:ext cx="2011680" cy="96012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QCNN block 1</a:t>
            </a:r>
            <a:br/>
            <a:r>
              <a:t>(33 params)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617720" y="1755648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92040" y="1417320"/>
            <a:ext cx="2011680" cy="960120"/>
          </a:xfrm>
          <a:prstGeom prst="roundRect">
            <a:avLst/>
          </a:prstGeom>
          <a:solidFill>
            <a:srgbClr val="12888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re-upload</a:t>
            </a:r>
            <a:br/>
            <a:r>
              <a:t>angles L2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903720" y="1755648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78040" y="1417320"/>
            <a:ext cx="2011680" cy="96012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QCNN block 2</a:t>
            </a:r>
            <a:br/>
            <a:r>
              <a:t>(33 params)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189720" y="1755648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64040" y="1417320"/>
            <a:ext cx="2011680" cy="96012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88920"/>
            <a:ext cx="110642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Re-uploading = the SAME angle encoding applied L times, interleaved with variational blocks (each with its own 33 params).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Pure angle encoding = L = 1; re-uploading = L &gt; 1 -&gt; universal-approximator expressivity.</a:t>
            </a:r>
          </a:p>
          <a:p>
            <a:pPr lvl="1">
              <a:spcAft>
                <a:spcPts val="600"/>
              </a:spcAft>
              <a:defRPr sz="1500" b="0" i="0">
                <a:solidFill>
                  <a:srgbClr val="595959"/>
                </a:solidFill>
                <a:latin typeface="Calibri"/>
              </a:defRPr>
            </a:pPr>
            <a:r>
              <a:t>– Deliberately shifts responsibility from the classical net to the quantum layers (33 x L quantum params).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Sweet spot between 'most quantum' (amplitude) and 'easiest' (single-layer angle).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The Quantum Circuit - p4m Equivariant QCNN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ported from EQNN-for-HEP to TorchQuantum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8 qubits, 33 trainable params, weight-tied across p4m orbits -&gt; circuit is equivariant under 90deg rotations + reflections.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Equivariant convolution  U2_equiv (6 params):  RX, RX, IsingZZ, RX, RX, IsingYY.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Equivariant pooling (5 params):  RX, RX, RY, RZ, CRX.</a:t>
            </a:r>
          </a:p>
          <a:p>
            <a:pPr>
              <a:spcAft>
                <a:spcPts val="600"/>
              </a:spcAft>
              <a:defRPr sz="1700" b="1" i="0">
                <a:solidFill>
                  <a:srgbClr val="222222"/>
                </a:solidFill>
                <a:latin typeface="Calibri"/>
              </a:defRPr>
            </a:pPr>
            <a:r>
              <a:t>• Structure:  conv1 (8 orbit pairs) -&gt; pool1 (8-&gt;4) -&gt; conv2 -&gt; pool2 (4-&gt;2) -&gt; conv3 -&gt; pool3 (2-&gt;1) -&gt; H(4).</a:t>
            </a:r>
          </a:p>
          <a:p>
            <a:pPr lvl="1">
              <a:spcAft>
                <a:spcPts val="600"/>
              </a:spcAft>
              <a:defRPr sz="1500" b="0" i="0">
                <a:solidFill>
                  <a:srgbClr val="595959"/>
                </a:solidFill>
                <a:latin typeface="Calibri"/>
              </a:defRPr>
            </a:pPr>
            <a:r>
              <a:t>– IsingZZ / IsingYY built from native CNOT-RZ-CNOT (+ RX(+/-pi/2)) -&gt; verified equal to the PennyLane originals.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4526280"/>
            <a:ext cx="1554480" cy="86868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conv1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74520" y="4818888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02536" y="4526280"/>
            <a:ext cx="1554480" cy="868680"/>
          </a:xfrm>
          <a:prstGeom prst="roundRect">
            <a:avLst/>
          </a:prstGeom>
          <a:solidFill>
            <a:srgbClr val="142B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pool1</a:t>
            </a:r>
            <a:br/>
            <a:r>
              <a:t>8-&gt;4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57016" y="4818888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85032" y="4526280"/>
            <a:ext cx="1554480" cy="86868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conv2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239512" y="4818888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67528" y="4526280"/>
            <a:ext cx="1554480" cy="868680"/>
          </a:xfrm>
          <a:prstGeom prst="roundRect">
            <a:avLst/>
          </a:prstGeom>
          <a:solidFill>
            <a:srgbClr val="142B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pool2</a:t>
            </a:r>
            <a:br/>
            <a:r>
              <a:t>4-&gt;2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922008" y="4818888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050024" y="4526280"/>
            <a:ext cx="1554480" cy="86868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conv3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604504" y="4818888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732520" y="4526280"/>
            <a:ext cx="1554480" cy="868680"/>
          </a:xfrm>
          <a:prstGeom prst="roundRect">
            <a:avLst/>
          </a:prstGeom>
          <a:solidFill>
            <a:srgbClr val="142B4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pool3</a:t>
            </a:r>
            <a:br/>
            <a:r>
              <a:t>2-&gt;1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287000" y="4818888"/>
            <a:ext cx="301752" cy="27432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415016" y="4526280"/>
            <a:ext cx="1554480" cy="868680"/>
          </a:xfrm>
          <a:prstGeom prst="roundRect">
            <a:avLst/>
          </a:prstGeom>
          <a:solidFill>
            <a:srgbClr val="6F2DA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H(4) +</a:t>
            </a:r>
            <a:br/>
            <a:r>
              <a:t>readout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Multi-Observable Readout + Hybrid Residual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unclogging the 8-number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222222"/>
                </a:solidFill>
                <a:latin typeface="Calibri"/>
              </a:defRPr>
            </a:pPr>
            <a:r>
              <a:t>• Original readout = &lt;Z&gt; on 8 wires (8 numbers) -&gt; a barren bottleneck that pins loss near ln(3).</a:t>
            </a:r>
          </a:p>
          <a:p>
            <a:pPr>
              <a:spcAft>
                <a:spcPts val="600"/>
              </a:spcAft>
              <a:defRPr sz="1800" b="1" i="0">
                <a:solidFill>
                  <a:srgbClr val="222222"/>
                </a:solidFill>
                <a:latin typeface="Calibri"/>
              </a:defRPr>
            </a:pPr>
            <a:r>
              <a:t>• Widened readout: &lt;Z&gt;, &lt;X&gt;, &lt;Y&gt; per wire (24) + &lt;Z_i Z_j&gt; on the conv1 orbit pairs (8)  -&gt;  32 features.</a:t>
            </a:r>
          </a:p>
          <a:p>
            <a:pPr lvl="1">
              <a:spcAft>
                <a:spcPts val="600"/>
              </a:spcAft>
              <a:defRPr sz="1600" b="0" i="0">
                <a:solidFill>
                  <a:srgbClr val="595959"/>
                </a:solidFill>
                <a:latin typeface="Calibri"/>
              </a:defRPr>
            </a:pPr>
            <a:r>
              <a:t>– &lt;X&gt;,&lt;Y&gt; via basis-change (H / RX(pi/2)) then &lt;Z&gt;;  &lt;ZZ&gt; from |psi|^2 -&gt; all from the SAME final state.</a:t>
            </a:r>
          </a:p>
          <a:p>
            <a:pPr>
              <a:spcAft>
                <a:spcPts val="600"/>
              </a:spcAft>
              <a:defRPr sz="1800" b="1" i="0">
                <a:solidFill>
                  <a:srgbClr val="222222"/>
                </a:solidFill>
                <a:latin typeface="Calibri"/>
              </a:defRPr>
            </a:pPr>
            <a:r>
              <a:t>• Hybrid residual (flag-gated): concat the invariant CNN vector (projected to 16) with the quantum readout.</a:t>
            </a:r>
          </a:p>
          <a:p>
            <a:pPr lvl="1">
              <a:spcAft>
                <a:spcPts val="600"/>
              </a:spcAft>
              <a:defRPr sz="1600" b="0" i="0">
                <a:solidFill>
                  <a:srgbClr val="595959"/>
                </a:solidFill>
                <a:latin typeface="Calibri"/>
              </a:defRPr>
            </a:pPr>
            <a:r>
              <a:t>– Lets you report BOTH a 'pure quantum readout' number and a 'hybrid' number for the same model.</a:t>
            </a:r>
          </a:p>
          <a:p>
            <a:pPr>
              <a:spcAft>
                <a:spcPts val="600"/>
              </a:spcAft>
              <a:defRPr sz="1800" b="1" i="0">
                <a:solidFill>
                  <a:srgbClr val="222222"/>
                </a:solidFill>
                <a:latin typeface="Calibri"/>
              </a:defRPr>
            </a:pPr>
            <a:r>
              <a:t>• Head: linear for amplitude; equiqnn-style post-net (Linear-ReLU-Dropout-Linear) for angle / reupload.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Results - DeepLense Model_I (3 classes)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test-set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3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 / encoding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Macro ROC-AUC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 i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42B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Amplitude (QVF)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90.01%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trained; AUC to compute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Angle (equiqnn implementation)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98.69%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0.9991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complete (F1 0.9869)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Re-uploading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to run (L = 2)</a:t>
                      </a:r>
                    </a:p>
                  </a:txBody>
                  <a:tcPr>
                    <a:solidFill>
                      <a:srgbClr val="F1F4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Baseline - classical C8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high (~0.97+)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 i="0">
                          <a:solidFill>
                            <a:srgbClr val="222222"/>
                          </a:solidFill>
                          <a:latin typeface="Calibri"/>
                        </a:defRPr>
                      </a:pPr>
                      <a:r>
                        <a:t>GSoC classical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069080"/>
            <a:ext cx="11247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 i="0">
                <a:solidFill>
                  <a:srgbClr val="222222"/>
                </a:solidFill>
                <a:latin typeface="Calibri"/>
              </a:defRPr>
            </a:pPr>
            <a:r>
              <a:t>• Angle encoding (equiqnn): 98.69% test accuracy, macro ROC-AUC 0.9991; per-class AUC axion 0.9992 / cdm 0.9984 / no_sub 0.9998.</a:t>
            </a:r>
          </a:p>
          <a:p>
            <a:pPr>
              <a:spcAft>
                <a:spcPts val="600"/>
              </a:spcAft>
              <a:defRPr sz="1500" b="1" i="0">
                <a:solidFill>
                  <a:srgbClr val="222222"/>
                </a:solidFill>
                <a:latin typeface="Calibri"/>
              </a:defRPr>
            </a:pPr>
            <a:r>
              <a:t>• Amplitude (QVF): ~90% with only 33 quantum params + a shallow CNN -&gt; the quantum state carries real signal (macro AUC to compute).</a:t>
            </a:r>
          </a:p>
          <a:p>
            <a:pPr>
              <a:spcAft>
                <a:spcPts val="600"/>
              </a:spcAft>
              <a:defRPr sz="1500" b="1" i="0">
                <a:solidFill>
                  <a:srgbClr val="222222"/>
                </a:solidFill>
                <a:latin typeface="Calibri"/>
              </a:defRPr>
            </a:pPr>
            <a:r>
              <a:t>• Next: macro ROC-AUC + per-class ROC curves for amplitude, and the re-uploading run (L = 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 i="0">
                <a:solidFill>
                  <a:srgbClr val="C07A00"/>
                </a:solidFill>
                <a:latin typeface="Calibri"/>
              </a:defRPr>
            </a:pPr>
            <a:r>
              <a:t>TBD = run the evaluation cell to fill accuracy + macro ROC-AUC and export the ROC curves.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42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/>
          <a:lstStyle/>
          <a:p>
            <a:pPr algn="ctr">
              <a:defRPr sz="2600" b="1" i="0">
                <a:solidFill>
                  <a:srgbClr val="FFFFFF"/>
                </a:solidFill>
                <a:latin typeface="Calibri"/>
              </a:defRPr>
            </a:pPr>
            <a:r>
              <a:t>How to Reproduce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BFD3EE"/>
                </a:solidFill>
                <a:latin typeface="Calibri"/>
              </a:defRPr>
            </a:pPr>
            <a:r>
              <a:t>steerable_qvf_quantum_lensing.py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 i="0">
                <a:solidFill>
                  <a:srgbClr val="222222"/>
                </a:solidFill>
                <a:latin typeface="Calibri"/>
              </a:defRPr>
            </a:pPr>
            <a:r>
              <a:t>• Single switch in the config cell:  ENCODING = 'amplitude' | 'angle' | 'reupload'  (REUPLOAD_LAYERS for L).</a:t>
            </a:r>
          </a:p>
          <a:p>
            <a:pPr lvl="1">
              <a:spcAft>
                <a:spcPts val="600"/>
              </a:spcAft>
              <a:defRPr sz="1600" b="0" i="0">
                <a:solidFill>
                  <a:srgbClr val="595959"/>
                </a:solidFill>
                <a:latin typeface="Calibri"/>
              </a:defRPr>
            </a:pPr>
            <a:r>
              <a:t>– Everything downstream (encoder head, quantum encoding, per-layer params, readout, post-net) adapts automatically.</a:t>
            </a:r>
          </a:p>
          <a:p>
            <a:pPr>
              <a:spcAft>
                <a:spcPts val="600"/>
              </a:spcAft>
              <a:defRPr sz="1800" b="1" i="0">
                <a:solidFill>
                  <a:srgbClr val="222222"/>
                </a:solidFill>
                <a:latin typeface="Calibri"/>
              </a:defRPr>
            </a:pPr>
            <a:r>
              <a:t>• Run top-to-bottom; the eval cell prints test accuracy, macro ROC-AUC, confusion matrix and saves a summary PNG.</a:t>
            </a:r>
          </a:p>
          <a:p>
            <a:pPr>
              <a:spcAft>
                <a:spcPts val="600"/>
              </a:spcAft>
              <a:defRPr sz="1800" b="1" i="0">
                <a:solidFill>
                  <a:srgbClr val="222222"/>
                </a:solidFill>
                <a:latin typeface="Calibri"/>
              </a:defRPr>
            </a:pPr>
            <a:r>
              <a:t>• To-do before presenting:</a:t>
            </a:r>
          </a:p>
          <a:p>
            <a:pPr lvl="1">
              <a:spcAft>
                <a:spcPts val="600"/>
              </a:spcAft>
              <a:defRPr sz="1600" b="0" i="0">
                <a:solidFill>
                  <a:srgbClr val="595959"/>
                </a:solidFill>
                <a:latin typeface="Calibri"/>
              </a:defRPr>
            </a:pPr>
            <a:r>
              <a:t>– compute + paste macro ROC-AUC for amplitude; export the per-class ROC curve figure.</a:t>
            </a:r>
          </a:p>
          <a:p>
            <a:pPr lvl="1">
              <a:spcAft>
                <a:spcPts val="600"/>
              </a:spcAft>
              <a:defRPr sz="1600" b="0" i="0">
                <a:solidFill>
                  <a:srgbClr val="595959"/>
                </a:solidFill>
                <a:latin typeface="Calibri"/>
              </a:defRPr>
            </a:pPr>
            <a:r>
              <a:t>– run angle and re-uploading, fill the results table, and add the accuracy/AUC plots.</a:t>
            </a:r>
          </a:p>
          <a:p>
            <a:pPr lvl="1">
              <a:spcAft>
                <a:spcPts val="600"/>
              </a:spcAft>
              <a:defRPr sz="1600" b="0" i="0">
                <a:solidFill>
                  <a:srgbClr val="595959"/>
                </a:solidFill>
                <a:latin typeface="Calibri"/>
              </a:defRPr>
            </a:pPr>
            <a:r>
              <a:t>– ablation: HYBRID_RESIDUAL on/off to separate the 'pure quantum' vs 'hybrid' contribution.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