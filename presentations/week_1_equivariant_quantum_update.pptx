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5D0D8"/>
                </a:solidFill>
                <a:latin typeface="Calibri"/>
              </a:rPr>
              <a:t>GSoC 2026  •  DeepLense  •  Weekly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8FC"/>
                </a:solidFill>
                <a:latin typeface="Calibri"/>
              </a:rPr>
              <a:t>Equivariant &amp; Quantum Models for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8FC"/>
                </a:solidFill>
                <a:latin typeface="Calibri"/>
              </a:rPr>
              <a:t>Dark-Matter Substructure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A9BCD6"/>
                </a:solidFill>
                <a:latin typeface="Calibri"/>
              </a:rPr>
              <a:t>Bringing the symmetry (equivariance) ideas from my GSoC-2023 equivariant transformers into the hybrid quantum regime.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63440"/>
            <a:ext cx="3246120" cy="64008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35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5D0D8"/>
                </a:solidFill>
                <a:latin typeface="Calibri"/>
              </a:rPr>
              <a:t>3 quantum architectures built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663440"/>
            <a:ext cx="3246120" cy="64008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4AD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466344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AD991"/>
                </a:solidFill>
                <a:latin typeface="Calibri"/>
              </a:rPr>
              <a:t>Best test accuracy 97.20%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663440"/>
            <a:ext cx="3246120" cy="64008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F4B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66344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B84E"/>
                </a:solidFill>
                <a:latin typeface="Calibri"/>
              </a:rPr>
              <a:t>Next: ETN+QViT &amp; 4 datasets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5D0D8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8FC"/>
                </a:solidFill>
                <a:latin typeface="Calibri"/>
              </a:rPr>
              <a:t>The problem: what are we classifying?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828800" cy="38100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Strong gravitational lensing bends light from a far galaxy into arcs / rings around a massive foreground halo.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The shape of these arcs encodes the dark-matter substructure of the halo.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We classify each image into 3 classes: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B8CFF"/>
                </a:solidFill>
                <a:latin typeface="Calibri"/>
              </a:rPr>
              <a:t>       –  </a:t>
            </a:r>
            <a:r>
              <a:rPr sz="1500" b="0">
                <a:solidFill>
                  <a:srgbClr val="A9BCD6"/>
                </a:solidFill>
                <a:latin typeface="Calibri"/>
              </a:rPr>
              <a:t>no  — no substructure (smooth halo)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B8CFF"/>
                </a:solidFill>
                <a:latin typeface="Calibri"/>
              </a:rPr>
              <a:t>       –  </a:t>
            </a:r>
            <a:r>
              <a:rPr sz="1500" b="0">
                <a:solidFill>
                  <a:srgbClr val="A9BCD6"/>
                </a:solidFill>
                <a:latin typeface="Calibri"/>
              </a:rPr>
              <a:t>sphere  — CDM-style subhalos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B8CFF"/>
                </a:solidFill>
                <a:latin typeface="Calibri"/>
              </a:rPr>
              <a:t>       –  </a:t>
            </a:r>
            <a:r>
              <a:rPr sz="1500" b="0">
                <a:solidFill>
                  <a:srgbClr val="A9BCD6"/>
                </a:solidFill>
                <a:latin typeface="Calibri"/>
              </a:rPr>
              <a:t>vort  — axion / vortex substructure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Hard part: arcs appear at any rotation angle and any Einstein-radius scale — the label does not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783080"/>
            <a:ext cx="4754880" cy="402336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0116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5D0D8"/>
                </a:solidFill>
                <a:latin typeface="Calibri"/>
              </a:rPr>
              <a:t>Why symmetry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606040"/>
            <a:ext cx="4206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5D0D8"/>
                </a:solidFill>
                <a:latin typeface="Calibri"/>
              </a:rPr>
              <a:t>•  </a:t>
            </a:r>
            <a:r>
              <a:rPr sz="1500" b="0">
                <a:solidFill>
                  <a:srgbClr val="F5F8FC"/>
                </a:solidFill>
                <a:latin typeface="Calibri"/>
              </a:rPr>
              <a:t>Rotating or mirroring a lens image must NOT change its class.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5D0D8"/>
                </a:solidFill>
                <a:latin typeface="Calibri"/>
              </a:rPr>
              <a:t>•  </a:t>
            </a:r>
            <a:r>
              <a:rPr sz="1500" b="0">
                <a:solidFill>
                  <a:srgbClr val="F5F8FC"/>
                </a:solidFill>
                <a:latin typeface="Calibri"/>
              </a:rPr>
              <a:t>A standard CNN has to re-learn every rotated copy from data.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5D0D8"/>
                </a:solidFill>
                <a:latin typeface="Calibri"/>
              </a:rPr>
              <a:t>•  </a:t>
            </a:r>
            <a:r>
              <a:rPr sz="1500" b="0">
                <a:solidFill>
                  <a:srgbClr val="F5F8FC"/>
                </a:solidFill>
                <a:latin typeface="Calibri"/>
              </a:rPr>
              <a:t>An equivariant model builds this rule into the math, so it needs less data and generalizes better.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5D0D8"/>
                </a:solidFill>
                <a:latin typeface="Calibri"/>
              </a:rPr>
              <a:t>•  </a:t>
            </a:r>
            <a:r>
              <a:rPr sz="1500" b="0">
                <a:solidFill>
                  <a:srgbClr val="F5F8FC"/>
                </a:solidFill>
                <a:latin typeface="Calibri"/>
              </a:rPr>
              <a:t>This is the central inductive bias of the whole project.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B8CFF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8FC"/>
                </a:solidFill>
                <a:latin typeface="Calibri"/>
              </a:rPr>
              <a:t>Two ingredients: equivariance + quantum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828800" cy="381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611880" cy="420624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35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611880" cy="594360"/>
          </a:xfrm>
          <a:prstGeom prst="round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611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Equivariance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154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5D0D8"/>
                </a:solidFill>
                <a:latin typeface="Calibri"/>
              </a:rPr>
              <a:t>•  </a:t>
            </a:r>
            <a:r>
              <a:rPr sz="1350" b="0">
                <a:solidFill>
                  <a:srgbClr val="F5F8FC"/>
                </a:solidFill>
                <a:latin typeface="Calibri"/>
              </a:rPr>
              <a:t>Symmetry is hard-wired into the network.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5D0D8"/>
                </a:solidFill>
                <a:latin typeface="Calibri"/>
              </a:rPr>
              <a:t>•  </a:t>
            </a:r>
            <a:r>
              <a:rPr sz="1350" b="0">
                <a:solidFill>
                  <a:srgbClr val="F5F8FC"/>
                </a:solidFill>
                <a:latin typeface="Calibri"/>
              </a:rPr>
              <a:t>If the input rotates, internal features rotate the same way.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5D0D8"/>
                </a:solidFill>
                <a:latin typeface="Calibri"/>
              </a:rPr>
              <a:t>•  </a:t>
            </a:r>
            <a:r>
              <a:rPr sz="1350" b="0">
                <a:solidFill>
                  <a:srgbClr val="F5F8FC"/>
                </a:solidFill>
                <a:latin typeface="Calibri"/>
              </a:rPr>
              <a:t>Group p4m = 90° rotations + mirror flips (the D4 group).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5D0D8"/>
                </a:solidFill>
                <a:latin typeface="Calibri"/>
              </a:rPr>
              <a:t>•  </a:t>
            </a:r>
            <a:r>
              <a:rPr sz="1350" b="0">
                <a:solidFill>
                  <a:srgbClr val="F5F8FC"/>
                </a:solidFill>
                <a:latin typeface="Calibri"/>
              </a:rPr>
              <a:t>Gives data efficiency and built-in robustness.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611880" cy="420624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783080"/>
            <a:ext cx="3611880" cy="594360"/>
          </a:xfrm>
          <a:prstGeom prst="round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611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Quantum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3154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5D0D8"/>
                </a:solidFill>
                <a:latin typeface="Calibri"/>
              </a:rPr>
              <a:t>•  </a:t>
            </a:r>
            <a:r>
              <a:rPr sz="1350" b="0">
                <a:solidFill>
                  <a:srgbClr val="F5F8FC"/>
                </a:solidFill>
                <a:latin typeface="Calibri"/>
              </a:rPr>
              <a:t>Quantum circuits explore a very high-dimensional state space with few parameters.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5D0D8"/>
                </a:solidFill>
                <a:latin typeface="Calibri"/>
              </a:rPr>
              <a:t>•  </a:t>
            </a:r>
            <a:r>
              <a:rPr sz="1350" b="0">
                <a:solidFill>
                  <a:srgbClr val="F5F8FC"/>
                </a:solidFill>
                <a:latin typeface="Calibri"/>
              </a:rPr>
              <a:t>Hypothesis: a symmetry-aware quantum layer is an efficient, expressive feature mixer.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5D0D8"/>
                </a:solidFill>
                <a:latin typeface="Calibri"/>
              </a:rPr>
              <a:t>•  </a:t>
            </a:r>
            <a:r>
              <a:rPr sz="1350" b="0">
                <a:solidFill>
                  <a:srgbClr val="F5F8FC"/>
                </a:solidFill>
                <a:latin typeface="Calibri"/>
              </a:rPr>
              <a:t>Simulated with TorchQuantum (full PyTorch autograd).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783080"/>
            <a:ext cx="3611880" cy="420624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4AD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783080"/>
            <a:ext cx="3611880" cy="594360"/>
          </a:xfrm>
          <a:prstGeom prst="round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611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The combination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560320"/>
            <a:ext cx="3154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5D0D8"/>
                </a:solidFill>
                <a:latin typeface="Calibri"/>
              </a:rPr>
              <a:t>•  </a:t>
            </a:r>
            <a:r>
              <a:rPr sz="1350" b="0">
                <a:solidFill>
                  <a:srgbClr val="F5F8FC"/>
                </a:solidFill>
                <a:latin typeface="Calibri"/>
              </a:rPr>
              <a:t>Make the QUANTUM part itself respect the symmetry, not just the CNN.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5D0D8"/>
                </a:solidFill>
                <a:latin typeface="Calibri"/>
              </a:rPr>
              <a:t>•  </a:t>
            </a:r>
            <a:r>
              <a:rPr sz="1350" b="0">
                <a:solidFill>
                  <a:srgbClr val="F5F8FC"/>
                </a:solidFill>
                <a:latin typeface="Calibri"/>
              </a:rPr>
              <a:t>Goal: a fully symmetry-consistent hybrid pipeline.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5D0D8"/>
                </a:solidFill>
                <a:latin typeface="Calibri"/>
              </a:rPr>
              <a:t>•  </a:t>
            </a:r>
            <a:r>
              <a:rPr sz="1350" b="0">
                <a:solidFill>
                  <a:srgbClr val="F5F8FC"/>
                </a:solidFill>
                <a:latin typeface="Calibri"/>
              </a:rPr>
              <a:t>This week = three different ways of achieving that.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5D0D8"/>
                </a:solidFill>
                <a:latin typeface="Calibri"/>
              </a:rPr>
              <a:t>WHERE THIS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8FC"/>
                </a:solidFill>
                <a:latin typeface="Calibri"/>
              </a:rPr>
              <a:t>Recap: my GSoC-2023 equivariant transformers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828800" cy="38100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035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In 2023 I built C8-steerable equivariant CNNs (e2cnn) for lensing.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Symmetry group C8 = rotations by multiples of 45°.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Key methodology: train + evaluate the SAME equivariant model across 4 separate datasets (Model I–IV).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Each dataset = a different simulation setting / difficulty.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This proved equivariance helps consistently, not just on one set.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That 4-dataset protocol is the template for the upcoming quantum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783080"/>
            <a:ext cx="4754880" cy="402336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0116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5D0D8"/>
                </a:solidFill>
                <a:latin typeface="Calibri"/>
              </a:rPr>
              <a:t>The 4 datasets (Model I–IV)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697480"/>
            <a:ext cx="1371600" cy="5486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6974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B8CFF"/>
                </a:solidFill>
                <a:latin typeface="Calibri"/>
              </a:rPr>
              <a:t>Model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69748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CD6"/>
                </a:solidFill>
                <a:latin typeface="Calibri"/>
              </a:rPr>
              <a:t>baseline lensing simulation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447288"/>
            <a:ext cx="1371600" cy="5486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447288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B8CFF"/>
                </a:solidFill>
                <a:latin typeface="Calibri"/>
              </a:rPr>
              <a:t>Model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447288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CD6"/>
                </a:solidFill>
                <a:latin typeface="Calibri"/>
              </a:rPr>
              <a:t>different noise / observation setup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4197096"/>
            <a:ext cx="1371600" cy="5486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4197096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B8CFF"/>
                </a:solidFill>
                <a:latin typeface="Calibri"/>
              </a:rPr>
              <a:t>Model III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197096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CD6"/>
                </a:solidFill>
                <a:latin typeface="Calibri"/>
              </a:rPr>
              <a:t>harder substructure regime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946904"/>
            <a:ext cx="1371600" cy="5486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4946904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B8CFF"/>
                </a:solidFill>
                <a:latin typeface="Calibri"/>
              </a:rPr>
              <a:t>Model 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946904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CD6"/>
                </a:solidFill>
                <a:latin typeface="Calibri"/>
              </a:rPr>
              <a:t>additional variation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AD991"/>
                </a:solidFill>
                <a:latin typeface="Calibri"/>
              </a:rPr>
              <a:t>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8FC"/>
                </a:solidFill>
                <a:latin typeface="Calibri"/>
              </a:rPr>
              <a:t>Three different QUANTUM architectures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828800" cy="38100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CD6"/>
                </a:solidFill>
                <a:latin typeface="Calibri"/>
              </a:rPr>
              <a:t>Same task, same classical front-end — what changes is the </a:t>
            </a:r>
            <a:r>
              <a:rPr sz="1500" b="1">
                <a:solidFill>
                  <a:srgbClr val="35D0D8"/>
                </a:solidFill>
                <a:latin typeface="Calibri"/>
              </a:rPr>
              <a:t>quantum circuit</a:t>
            </a:r>
            <a:r>
              <a:rPr sz="1500" b="0">
                <a:solidFill>
                  <a:srgbClr val="A9BCD6"/>
                </a:solidFill>
                <a:latin typeface="Calibri"/>
              </a:rPr>
              <a:t> and how it encodes the symmetry.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11064240" cy="120700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146304" cy="1207008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395728"/>
            <a:ext cx="713232" cy="713232"/>
          </a:xfrm>
          <a:prstGeom prst="round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76856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5F8FC"/>
                </a:solidFill>
                <a:latin typeface="Calibri"/>
              </a:rPr>
              <a:t>equiv_qnn.ipynb   </a:t>
            </a:r>
            <a:r>
              <a:rPr sz="1350" b="1">
                <a:solidFill>
                  <a:srgbClr val="35D0D8"/>
                </a:solidFill>
                <a:latin typeface="Calibri"/>
              </a:rPr>
              <a:t>Angle-encoded EquivQCNN (with pooling)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9BCD6"/>
                </a:solidFill>
                <a:latin typeface="Calibri"/>
              </a:rPr>
              <a:t>8 qubits, 33 params, conv+pool 8→4→2.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148840"/>
            <a:ext cx="210312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5D0D8"/>
                </a:solidFill>
                <a:latin typeface="Calibri"/>
              </a:rPr>
              <a:t>96.93%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9BCD6"/>
                </a:solidFill>
                <a:latin typeface="Calibri"/>
              </a:rPr>
              <a:t>test acc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11064240" cy="120700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520440"/>
            <a:ext cx="146304" cy="1207008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767328"/>
            <a:ext cx="713232" cy="713232"/>
          </a:xfrm>
          <a:prstGeom prst="round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648456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5F8FC"/>
                </a:solidFill>
                <a:latin typeface="Calibri"/>
              </a:rPr>
              <a:t>strict_p4m_qcnn.ipynb   </a:t>
            </a:r>
            <a:r>
              <a:rPr sz="1350" b="1">
                <a:solidFill>
                  <a:srgbClr val="9B8CFF"/>
                </a:solidFill>
                <a:latin typeface="Calibri"/>
              </a:rPr>
              <a:t>Strict-D4 QCNN on the regular representation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9BCD6"/>
                </a:solidFill>
                <a:latin typeface="Calibri"/>
              </a:rPr>
              <a:t>8 qubits = 8 group elements, 24 params, no pooling.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520440"/>
            <a:ext cx="210312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B8CFF"/>
                </a:solidFill>
                <a:latin typeface="Calibri"/>
              </a:rPr>
              <a:t>95.60%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9BCD6"/>
                </a:solidFill>
                <a:latin typeface="Calibri"/>
              </a:rPr>
              <a:t>test acc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1064240" cy="120700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92040"/>
            <a:ext cx="146304" cy="1207008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138928"/>
            <a:ext cx="713232" cy="713232"/>
          </a:xfrm>
          <a:prstGeom prst="round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38928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020056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5F8FC"/>
                </a:solidFill>
                <a:latin typeface="Calibri"/>
              </a:rPr>
              <a:t>fully_equivariant_p4m_qcnn_v2.ipynb   </a:t>
            </a:r>
            <a:r>
              <a:rPr sz="1350" b="1">
                <a:solidFill>
                  <a:srgbClr val="4AD991"/>
                </a:solidFill>
                <a:latin typeface="Calibri"/>
              </a:rPr>
              <a:t>Paper EquivQCNN — CAA + twirled filters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9BCD6"/>
                </a:solidFill>
                <a:latin typeface="Calibri"/>
              </a:rPr>
              <a:t>8 qubits (x/y registers), invariant measurement.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892040"/>
            <a:ext cx="210312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AD991"/>
                </a:solidFill>
                <a:latin typeface="Calibri"/>
              </a:rPr>
              <a:t>97.20%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9BCD6"/>
                </a:solidFill>
                <a:latin typeface="Calibri"/>
              </a:rPr>
              <a:t>test acc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5D0D8"/>
                </a:solidFill>
                <a:latin typeface="Calibri"/>
              </a:rPr>
              <a:t>QUANTUM ARCHITECTURE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8FC"/>
                </a:solidFill>
                <a:latin typeface="Calibri"/>
              </a:rPr>
              <a:t>equiv_qnn — angle-encoded EquivQCNN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828800" cy="38100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1264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CNN reduces the image to 8 numbers, angle-encoded (RY) on 8 qubits.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Quantum CNN = 3 conv + 3 pool blocks (the classic QCNN shape).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Pooling halves the active qubits: 8 → 4 → 2.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Only 33 trainable quantum parameters.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Measure &lt;Z&gt;, then a tiny classical head outputs 3 logits.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Role: fast, accurate reference point for the stricter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83080"/>
            <a:ext cx="4663440" cy="402336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35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9659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5D0D8"/>
                </a:solidFill>
                <a:latin typeface="Calibri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514600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CD6"/>
                </a:solidFill>
                <a:latin typeface="Calibri"/>
              </a:rPr>
              <a:t>Test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51460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4AD991"/>
                </a:solidFill>
                <a:latin typeface="Calibri"/>
              </a:rPr>
              <a:t>96.93%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172968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CD6"/>
                </a:solidFill>
                <a:latin typeface="Calibri"/>
              </a:rPr>
              <a:t>Test 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3172968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35D0D8"/>
                </a:solidFill>
                <a:latin typeface="Calibri"/>
              </a:rPr>
              <a:t>0.9966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831336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CD6"/>
                </a:solidFill>
                <a:latin typeface="Calibri"/>
              </a:rPr>
              <a:t>Macro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831336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9B8CFF"/>
                </a:solidFill>
                <a:latin typeface="Calibri"/>
              </a:rPr>
              <a:t>0.969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617720"/>
            <a:ext cx="411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5D0D8"/>
                </a:solidFill>
                <a:latin typeface="Calibri"/>
              </a:rPr>
              <a:t>•  </a:t>
            </a:r>
            <a:r>
              <a:rPr sz="1300" b="0">
                <a:solidFill>
                  <a:srgbClr val="F5F8FC"/>
                </a:solidFill>
                <a:latin typeface="Calibri"/>
              </a:rPr>
              <a:t>Per class: no 100%, vort 98.0%, sphere 92.9%.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5D0D8"/>
                </a:solidFill>
                <a:latin typeface="Calibri"/>
              </a:rPr>
              <a:t>•  </a:t>
            </a:r>
            <a:r>
              <a:rPr sz="1300" b="0">
                <a:solidFill>
                  <a:srgbClr val="F5F8FC"/>
                </a:solidFill>
                <a:latin typeface="Calibri"/>
              </a:rPr>
              <a:t>Symmetry approximate — pooling slightly breaks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B8CFF"/>
                </a:solidFill>
                <a:latin typeface="Calibri"/>
              </a:rPr>
              <a:t>QUANTUM ARCHITECTURE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8FC"/>
                </a:solidFill>
                <a:latin typeface="Calibri"/>
              </a:rPr>
              <a:t>strict_p4m_qcnn — strict-D4 on the regular rep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828800" cy="381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1264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5D0D8"/>
                </a:solidFill>
                <a:latin typeface="Calibri"/>
              </a:rPr>
              <a:t>•  </a:t>
            </a:r>
            <a:r>
              <a:rPr sz="1550" b="0">
                <a:solidFill>
                  <a:srgbClr val="F5F8FC"/>
                </a:solidFill>
                <a:latin typeface="Calibri"/>
              </a:rPr>
              <a:t>The 8 qubits ARE the 8 elements of the D4 group (regular rep).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5D0D8"/>
                </a:solidFill>
                <a:latin typeface="Calibri"/>
              </a:rPr>
              <a:t>•  </a:t>
            </a:r>
            <a:r>
              <a:rPr sz="1550" b="0">
                <a:solidFill>
                  <a:srgbClr val="F5F8FC"/>
                </a:solidFill>
                <a:latin typeface="Calibri"/>
              </a:rPr>
              <a:t>Symmetry acts by permuting qubits (rotation cycles, reflection swaps).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5D0D8"/>
                </a:solidFill>
                <a:latin typeface="Calibri"/>
              </a:rPr>
              <a:t>•  </a:t>
            </a:r>
            <a:r>
              <a:rPr sz="1550" b="0">
                <a:solidFill>
                  <a:srgbClr val="F5F8FC"/>
                </a:solidFill>
                <a:latin typeface="Calibri"/>
              </a:rPr>
              <a:t>Each layer shares one parameter set across a whole D4-orbit of edges.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5D0D8"/>
                </a:solidFill>
                <a:latin typeface="Calibri"/>
              </a:rPr>
              <a:t>•  </a:t>
            </a:r>
            <a:r>
              <a:rPr sz="1550" b="0">
                <a:solidFill>
                  <a:srgbClr val="F5F8FC"/>
                </a:solidFill>
                <a:latin typeface="Calibri"/>
              </a:rPr>
              <a:t>2-qubit gate uses TIED RX → SWAP-symmetric (reflection-safe).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5D0D8"/>
                </a:solidFill>
                <a:latin typeface="Calibri"/>
              </a:rPr>
              <a:t>•  </a:t>
            </a:r>
            <a:r>
              <a:rPr sz="1550" b="0">
                <a:solidFill>
                  <a:srgbClr val="F5F8FC"/>
                </a:solidFill>
                <a:latin typeface="Calibri"/>
              </a:rPr>
              <a:t>6 layers, NO pooling (pooling would break rotation symmetry).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5D0D8"/>
                </a:solidFill>
                <a:latin typeface="Calibri"/>
              </a:rPr>
              <a:t>•  </a:t>
            </a:r>
            <a:r>
              <a:rPr sz="1550" b="0">
                <a:solidFill>
                  <a:srgbClr val="F5F8FC"/>
                </a:solidFill>
                <a:latin typeface="Calibri"/>
              </a:rPr>
              <a:t>24 quantum params; output is equivariant, invariance done classically.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83080"/>
            <a:ext cx="4663440" cy="233172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93852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9B8CFF"/>
                </a:solidFill>
                <a:latin typeface="Calibri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450592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CD6"/>
                </a:solidFill>
                <a:latin typeface="Calibri"/>
              </a:rPr>
              <a:t>Test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450592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4AD991"/>
                </a:solidFill>
                <a:latin typeface="Calibri"/>
              </a:rPr>
              <a:t>95.60%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953512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CD6"/>
                </a:solidFill>
                <a:latin typeface="Calibri"/>
              </a:rPr>
              <a:t>Test 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953512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35D0D8"/>
                </a:solidFill>
                <a:latin typeface="Calibri"/>
              </a:rPr>
              <a:t>0.9947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456432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CD6"/>
                </a:solidFill>
                <a:latin typeface="Calibri"/>
              </a:rPr>
              <a:t>Macro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456432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9B8CFF"/>
                </a:solidFill>
                <a:latin typeface="Calibri"/>
              </a:rPr>
              <a:t>0.956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4297680"/>
            <a:ext cx="4663440" cy="150876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434840"/>
            <a:ext cx="4114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5D0D8"/>
                </a:solidFill>
                <a:latin typeface="Calibri"/>
              </a:rPr>
              <a:t>Idea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9BCD6"/>
                </a:solidFill>
                <a:latin typeface="Calibri"/>
              </a:rPr>
              <a:t>Equivariance is exact-by-construction via orbit-shared, SWAP-symmetric gates — the most hand-derived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AD991"/>
                </a:solidFill>
                <a:latin typeface="Calibri"/>
              </a:rPr>
              <a:t>QUANTUM ARCHITECTURE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8FC"/>
                </a:solidFill>
                <a:latin typeface="Calibri"/>
              </a:rPr>
              <a:t>fully_equivariant_v2 — paper CAA EquivQCNN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828800" cy="38100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1264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5D0D8"/>
                </a:solidFill>
                <a:latin typeface="Calibri"/>
              </a:rPr>
              <a:t>•  </a:t>
            </a:r>
            <a:r>
              <a:rPr sz="1550" b="0">
                <a:solidFill>
                  <a:srgbClr val="F5F8FC"/>
                </a:solidFill>
                <a:latin typeface="Calibri"/>
              </a:rPr>
              <a:t>Follows Chang et al. (arXiv:2310.02323) exactly.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5D0D8"/>
                </a:solidFill>
                <a:latin typeface="Calibri"/>
              </a:rPr>
              <a:t>•  </a:t>
            </a:r>
            <a:r>
              <a:rPr sz="1550" b="0">
                <a:solidFill>
                  <a:srgbClr val="F5F8FC"/>
                </a:solidFill>
                <a:latin typeface="Calibri"/>
              </a:rPr>
              <a:t>CAA embedding: qubits = x-register (4) + y-register (4) = coordinates.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5D0D8"/>
                </a:solidFill>
                <a:latin typeface="Calibri"/>
              </a:rPr>
              <a:t>•  </a:t>
            </a:r>
            <a:r>
              <a:rPr sz="1550" b="0">
                <a:solidFill>
                  <a:srgbClr val="F5F8FC"/>
                </a:solidFill>
                <a:latin typeface="Calibri"/>
              </a:rPr>
              <a:t>Group acts as Pauli-X flips + a SWAP of the two registers (V_x,V_y,V_r).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5D0D8"/>
                </a:solidFill>
                <a:latin typeface="Calibri"/>
              </a:rPr>
              <a:t>•  </a:t>
            </a:r>
            <a:r>
              <a:rPr sz="1550" b="0">
                <a:solidFill>
                  <a:srgbClr val="F5F8FC"/>
                </a:solidFill>
                <a:latin typeface="Calibri"/>
              </a:rPr>
              <a:t>Twirled filters: U2 (within a register) + U4 (links x↔y registers).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5D0D8"/>
                </a:solidFill>
                <a:latin typeface="Calibri"/>
              </a:rPr>
              <a:t>•  </a:t>
            </a:r>
            <a:r>
              <a:rPr sz="1550" b="0">
                <a:solidFill>
                  <a:srgbClr val="F5F8FC"/>
                </a:solidFill>
                <a:latin typeface="Calibri"/>
              </a:rPr>
              <a:t>Measurement is built to be INVARIANT (Rz+H, average x/y partners).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5D0D8"/>
                </a:solidFill>
                <a:latin typeface="Calibri"/>
              </a:rPr>
              <a:t>•  </a:t>
            </a:r>
            <a:r>
              <a:rPr sz="1550" b="0">
                <a:solidFill>
                  <a:srgbClr val="F5F8FC"/>
                </a:solidFill>
                <a:latin typeface="Calibri"/>
              </a:rPr>
              <a:t>So the quantum block outputs symmetry-invariant logits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83080"/>
            <a:ext cx="4663440" cy="233172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4AD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93852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AD991"/>
                </a:solidFill>
                <a:latin typeface="Calibri"/>
              </a:rPr>
              <a:t>Results — best of the three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450592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CD6"/>
                </a:solidFill>
                <a:latin typeface="Calibri"/>
              </a:rPr>
              <a:t>Test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450592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4AD991"/>
                </a:solidFill>
                <a:latin typeface="Calibri"/>
              </a:rPr>
              <a:t>97.20%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953512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CD6"/>
                </a:solidFill>
                <a:latin typeface="Calibri"/>
              </a:rPr>
              <a:t>Test 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953512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35D0D8"/>
                </a:solidFill>
                <a:latin typeface="Calibri"/>
              </a:rPr>
              <a:t>0.9933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456432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CD6"/>
                </a:solidFill>
                <a:latin typeface="Calibri"/>
              </a:rPr>
              <a:t>Best val acc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456432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9B8CFF"/>
                </a:solidFill>
                <a:latin typeface="Calibri"/>
              </a:rPr>
              <a:t>0.9727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4297680"/>
            <a:ext cx="4663440" cy="150876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434840"/>
            <a:ext cx="4114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5D0D8"/>
                </a:solidFill>
                <a:latin typeface="Calibri"/>
              </a:rPr>
              <a:t>Idea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9BCD6"/>
                </a:solidFill>
                <a:latin typeface="Calibri"/>
              </a:rPr>
              <a:t>Most rigorous: symmetry is guaranteed AND invariance lives inside the circuit — and it scores highest.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5D0D8"/>
                </a:solidFill>
                <a:latin typeface="Calibri"/>
              </a:rPr>
              <a:t>CIRCUIT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8FC"/>
                </a:solidFill>
                <a:latin typeface="Calibri"/>
              </a:rPr>
              <a:t>Same primitives — different 2-qubit block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828800" cy="38100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A9BCD6"/>
                </a:solidFill>
                <a:latin typeface="Calibri"/>
              </a:rPr>
              <a:t>All three share </a:t>
            </a:r>
            <a:r>
              <a:rPr sz="1350" b="1">
                <a:solidFill>
                  <a:srgbClr val="35D0D8"/>
                </a:solidFill>
                <a:latin typeface="Calibri"/>
              </a:rPr>
              <a:t>RY encoding, IsingZZ = CNOT·RZ·CNOT, IsingYY, MeasureAll(Z)</a:t>
            </a:r>
            <a:r>
              <a:rPr sz="1350" b="0">
                <a:solidFill>
                  <a:srgbClr val="A9BCD6"/>
                </a:solidFill>
                <a:latin typeface="Calibri"/>
              </a:rPr>
              <a:t>.  Only the single-qubit rotations and coupling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1064240" cy="129844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146304" cy="1298448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31136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equiv_qnn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A9BCD6"/>
                </a:solidFill>
                <a:latin typeface="Calibri"/>
              </a:rPr>
              <a:t>free RX on each wire (6 params)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2221992"/>
            <a:ext cx="7543800" cy="106070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2286000"/>
            <a:ext cx="7315200" cy="960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F8FC"/>
                </a:solidFill>
                <a:latin typeface="Consolas"/>
              </a:rPr>
              <a:t>w0 ─RX(p0)──●─────────RX(p3)─[YY]─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F8FC"/>
                </a:solidFill>
                <a:latin typeface="Consolas"/>
              </a:rPr>
              <a:t>            │ ZZ(p2)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F8FC"/>
                </a:solidFill>
                <a:latin typeface="Consolas"/>
              </a:rPr>
              <a:t>w1 ─RX(p1)──X──RZ──X──RX(p4)─[YY]─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F8FC"/>
                </a:solidFill>
                <a:latin typeface="Consolas"/>
              </a:rPr>
              <a:t>     ▲ independent angles  p0≠p1  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11064240" cy="129844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146304" cy="1298448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94176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B8CFF"/>
                </a:solidFill>
                <a:latin typeface="Calibri"/>
              </a:rPr>
              <a:t>strict_p4m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A9BCD6"/>
                </a:solidFill>
                <a:latin typeface="Calibri"/>
              </a:rPr>
              <a:t>TIED RX -&gt; SWAP-symmetric (4 params)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3685032"/>
            <a:ext cx="7543800" cy="106070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3749040"/>
            <a:ext cx="7315200" cy="960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F8FC"/>
                </a:solidFill>
                <a:latin typeface="Consolas"/>
              </a:rPr>
              <a:t>w0 ─RX(p0)──●─────────RX(p2)─[YY]─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F8FC"/>
                </a:solidFill>
                <a:latin typeface="Consolas"/>
              </a:rPr>
              <a:t>            │ ZZ(p1)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F8FC"/>
                </a:solidFill>
                <a:latin typeface="Consolas"/>
              </a:rPr>
              <a:t>w1 ─RX(p0)──X──RZ──X──RX(p2)─[YY]─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F8FC"/>
                </a:solidFill>
                <a:latin typeface="Consolas"/>
              </a:rPr>
              <a:t>     ▲ same angle on both wires   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11064240" cy="129844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146304" cy="1298448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157216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4AD991"/>
                </a:solidFill>
                <a:latin typeface="Calibri"/>
              </a:rPr>
              <a:t>fully_equiv_v2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A9BCD6"/>
                </a:solidFill>
                <a:latin typeface="Calibri"/>
              </a:rPr>
              <a:t>NO single-qubit gates (2 params)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5148072"/>
            <a:ext cx="7543800" cy="106070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5212080"/>
            <a:ext cx="7315200" cy="960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F8FC"/>
                </a:solidFill>
                <a:latin typeface="Consolas"/>
              </a:rPr>
              <a:t>w0 ──●─────────[YY]──────────────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F8FC"/>
                </a:solidFill>
                <a:latin typeface="Consolas"/>
              </a:rPr>
              <a:t>     │ ZZ(p0) 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F8FC"/>
                </a:solidFill>
                <a:latin typeface="Consolas"/>
              </a:rPr>
              <a:t>w1 ──X──RZ──X──[YY]──────────────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5F8FC"/>
                </a:solidFill>
                <a:latin typeface="Consolas"/>
              </a:rPr>
              <a:t>     ▲ only ZZ / YY survive    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B8CFF"/>
                </a:solidFill>
                <a:latin typeface="Calibri"/>
              </a:rPr>
              <a:t>CIRCUIT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8FC"/>
                </a:solidFill>
                <a:latin typeface="Calibri"/>
              </a:rPr>
              <a:t>Structure: pooling, depth &amp; coupling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828800" cy="381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611880" cy="429768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35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611880" cy="566928"/>
          </a:xfrm>
          <a:prstGeom prst="round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611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equiv_qnn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42032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5D0D8"/>
                </a:solidFill>
                <a:latin typeface="Calibri"/>
              </a:rPr>
              <a:t>Qubits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8 -&gt; 4 -&gt; 2 -&gt; 1 (shrinks)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410712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5D0D8"/>
                </a:solidFill>
                <a:latin typeface="Calibri"/>
              </a:rPr>
              <a:t>Pooling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YES — CRX controlled gate folds qubits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279392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5D0D8"/>
                </a:solidFill>
                <a:latin typeface="Calibri"/>
              </a:rPr>
              <a:t>Coupling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ring of pairs, then hierarchy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148072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5D0D8"/>
                </a:solidFill>
                <a:latin typeface="Calibri"/>
              </a:rPr>
              <a:t>Symmetry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approximate (free RX + directional CRX)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83080"/>
            <a:ext cx="3611880" cy="429768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783080"/>
            <a:ext cx="3611880" cy="566928"/>
          </a:xfrm>
          <a:prstGeom prst="round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783080"/>
            <a:ext cx="3611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strict_p4m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542032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B8CFF"/>
                </a:solidFill>
                <a:latin typeface="Calibri"/>
              </a:rPr>
              <a:t>Qubits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constant 8 (= D4 group elements)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10712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B8CFF"/>
                </a:solidFill>
                <a:latin typeface="Calibri"/>
              </a:rPr>
              <a:t>Pooling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NONE — pooling broke rotation symmetry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279392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B8CFF"/>
                </a:solidFill>
                <a:latin typeface="Calibri"/>
              </a:rPr>
              <a:t>Coupling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D4-orbits: cycle / s-orbit / diagonal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5148072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B8CFF"/>
                </a:solidFill>
                <a:latin typeface="Calibri"/>
              </a:rPr>
              <a:t>Symmetry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exact, equivariant (24 params, 6 layers)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783080"/>
            <a:ext cx="3611880" cy="429768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4AD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1783080"/>
            <a:ext cx="3611880" cy="566928"/>
          </a:xfrm>
          <a:prstGeom prst="round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783080"/>
            <a:ext cx="3611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fully_equiv_v2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2542032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AD991"/>
                </a:solidFill>
                <a:latin typeface="Calibri"/>
              </a:rPr>
              <a:t>Qubits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constant 8 (x-reg 4 + y-reg 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3410712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AD991"/>
                </a:solidFill>
                <a:latin typeface="Calibri"/>
              </a:rPr>
              <a:t>Pooling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NONE — uses stacked depth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279392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AD991"/>
                </a:solidFill>
                <a:latin typeface="Calibri"/>
              </a:rPr>
              <a:t>Coupling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within-reg + 4-body U4 cross-register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5148072"/>
            <a:ext cx="32095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AD991"/>
                </a:solidFill>
                <a:latin typeface="Calibri"/>
              </a:rPr>
              <a:t>Symmetry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exact + invariant measurement (best)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9963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35D0D8"/>
                </a:solidFill>
                <a:latin typeface="Calibri"/>
              </a:rPr>
              <a:t>Direction: </a:t>
            </a:r>
            <a:r>
              <a:rPr sz="1350" b="0">
                <a:solidFill>
                  <a:srgbClr val="F5F8FC"/>
                </a:solidFill>
                <a:latin typeface="Calibri"/>
              </a:rPr>
              <a:t>remove free single-qubit gates + remove asymmetric pooling -&gt; add symmetry-respecting structure.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5D0D8"/>
                </a:solidFill>
                <a:latin typeface="Calibri"/>
              </a:rPr>
              <a:t>THE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8FC"/>
                </a:solidFill>
                <a:latin typeface="Calibri"/>
              </a:rPr>
              <a:t>How the three differ — on the quantum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828800" cy="38100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697480" cy="50292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F8FC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691640"/>
            <a:ext cx="2788920" cy="502920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691640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equiv_qnn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91640"/>
            <a:ext cx="2788920" cy="50292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strict_p4m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691640"/>
            <a:ext cx="2788920" cy="502920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691640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fully_equiv_v2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94560"/>
            <a:ext cx="269748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194560"/>
            <a:ext cx="255117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9BCD6"/>
                </a:solidFill>
                <a:latin typeface="Calibri"/>
              </a:rPr>
              <a:t>Qubits mean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194560"/>
            <a:ext cx="278892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72" y="219456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8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94560"/>
            <a:ext cx="278892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219456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8 D4 elements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2194560"/>
            <a:ext cx="278892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7112" y="219456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x/y coords (CAA)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43200"/>
            <a:ext cx="2697480" cy="548640"/>
          </a:xfrm>
          <a:prstGeom prst="rect">
            <a:avLst/>
          </a:prstGeom>
          <a:solidFill>
            <a:srgbClr val="0B1F3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2743200"/>
            <a:ext cx="255117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9BCD6"/>
                </a:solidFill>
                <a:latin typeface="Calibri"/>
              </a:rPr>
              <a:t>Symmetry via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743200"/>
            <a:ext cx="2788920" cy="548640"/>
          </a:xfrm>
          <a:prstGeom prst="rect">
            <a:avLst/>
          </a:prstGeom>
          <a:solidFill>
            <a:srgbClr val="0B1F3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9272" y="274320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approximate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743200"/>
            <a:ext cx="2788920" cy="548640"/>
          </a:xfrm>
          <a:prstGeom prst="rect">
            <a:avLst/>
          </a:prstGeom>
          <a:solidFill>
            <a:srgbClr val="0B1F3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8192" y="274320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orbit-shared gates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23960" y="2743200"/>
            <a:ext cx="2788920" cy="548640"/>
          </a:xfrm>
          <a:prstGeom prst="rect">
            <a:avLst/>
          </a:prstGeom>
          <a:solidFill>
            <a:srgbClr val="0B1F3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97112" y="274320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twirled filters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91840"/>
            <a:ext cx="269748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291840"/>
            <a:ext cx="255117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9BCD6"/>
                </a:solidFill>
                <a:latin typeface="Calibri"/>
              </a:rPr>
              <a:t>Group acts by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3291840"/>
            <a:ext cx="278892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9272" y="329184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291840"/>
            <a:ext cx="278892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329184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qubit permutation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3291840"/>
            <a:ext cx="278892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97112" y="329184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X-flips + SWAP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840480"/>
            <a:ext cx="2697480" cy="548640"/>
          </a:xfrm>
          <a:prstGeom prst="rect">
            <a:avLst/>
          </a:prstGeom>
          <a:solidFill>
            <a:srgbClr val="0B1F3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3840480"/>
            <a:ext cx="255117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9BCD6"/>
                </a:solidFill>
                <a:latin typeface="Calibri"/>
              </a:rPr>
              <a:t>Pooling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3840480"/>
            <a:ext cx="2788920" cy="548640"/>
          </a:xfrm>
          <a:prstGeom prst="rect">
            <a:avLst/>
          </a:prstGeom>
          <a:solidFill>
            <a:srgbClr val="0B1F3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9272" y="384048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yes 8→4→2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840480"/>
            <a:ext cx="2788920" cy="548640"/>
          </a:xfrm>
          <a:prstGeom prst="rect">
            <a:avLst/>
          </a:prstGeom>
          <a:solidFill>
            <a:srgbClr val="0B1F3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08192" y="384048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none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23960" y="3840480"/>
            <a:ext cx="2788920" cy="548640"/>
          </a:xfrm>
          <a:prstGeom prst="rect">
            <a:avLst/>
          </a:prstGeom>
          <a:solidFill>
            <a:srgbClr val="0B1F3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97112" y="384048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none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389120"/>
            <a:ext cx="269748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4389120"/>
            <a:ext cx="255117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9BCD6"/>
                </a:solidFill>
                <a:latin typeface="Calibri"/>
              </a:rPr>
              <a:t>Quantum params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46120" y="4389120"/>
            <a:ext cx="278892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19272" y="438912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33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4389120"/>
            <a:ext cx="278892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08192" y="438912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24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23960" y="4389120"/>
            <a:ext cx="278892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97112" y="438912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4 × depth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937760"/>
            <a:ext cx="2697480" cy="548640"/>
          </a:xfrm>
          <a:prstGeom prst="rect">
            <a:avLst/>
          </a:prstGeom>
          <a:solidFill>
            <a:srgbClr val="0B1F3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" y="4937760"/>
            <a:ext cx="255117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9BCD6"/>
                </a:solidFill>
                <a:latin typeface="Calibri"/>
              </a:rPr>
              <a:t>Invariance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46120" y="4937760"/>
            <a:ext cx="2788920" cy="548640"/>
          </a:xfrm>
          <a:prstGeom prst="rect">
            <a:avLst/>
          </a:prstGeom>
          <a:solidFill>
            <a:srgbClr val="0B1F3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19272" y="493776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classical head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4937760"/>
            <a:ext cx="2788920" cy="548640"/>
          </a:xfrm>
          <a:prstGeom prst="rect">
            <a:avLst/>
          </a:prstGeom>
          <a:solidFill>
            <a:srgbClr val="0B1F3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08192" y="493776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classical readout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23960" y="4937760"/>
            <a:ext cx="2788920" cy="548640"/>
          </a:xfrm>
          <a:prstGeom prst="rect">
            <a:avLst/>
          </a:prstGeom>
          <a:solidFill>
            <a:srgbClr val="0B1F3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97112" y="493776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5F8FC"/>
                </a:solidFill>
                <a:latin typeface="Calibri"/>
              </a:rPr>
              <a:t>inside circuit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5486400"/>
            <a:ext cx="269748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" y="5486400"/>
            <a:ext cx="255117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A9BCD6"/>
                </a:solidFill>
                <a:latin typeface="Calibri"/>
              </a:rPr>
              <a:t>Test accuracy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46120" y="5486400"/>
            <a:ext cx="278892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19272" y="548640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5D0D8"/>
                </a:solidFill>
                <a:latin typeface="Calibri"/>
              </a:rPr>
              <a:t>96.93%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0" y="5486400"/>
            <a:ext cx="278892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08192" y="548640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B8CFF"/>
                </a:solidFill>
                <a:latin typeface="Calibri"/>
              </a:rPr>
              <a:t>95.60%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23960" y="5486400"/>
            <a:ext cx="2788920" cy="548640"/>
          </a:xfrm>
          <a:prstGeom prst="rect">
            <a:avLst/>
          </a:prstGeom>
          <a:solidFill>
            <a:srgbClr val="142A4A"/>
          </a:solidFill>
          <a:ln w="508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97112" y="5486400"/>
            <a:ext cx="26426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AD991"/>
                </a:solidFill>
                <a:latin typeface="Calibri"/>
              </a:rPr>
              <a:t>97.20%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5D0D8"/>
                </a:solidFill>
                <a:latin typeface="Calibri"/>
              </a:rPr>
              <a:t>Takeaway: </a:t>
            </a:r>
            <a:r>
              <a:rPr sz="1400" b="0">
                <a:solidFill>
                  <a:srgbClr val="F5F8FC"/>
                </a:solidFill>
                <a:latin typeface="Calibri"/>
              </a:rPr>
              <a:t>stricter, paper-based symmetry (fully_equiv_v2) gives the best accuracy with the fewest assumptions broken.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B84E"/>
                </a:solidFill>
                <a:latin typeface="Calibri"/>
              </a:rPr>
              <a:t>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8FC"/>
                </a:solidFill>
                <a:latin typeface="Calibri"/>
              </a:rPr>
              <a:t>etn_qvit_hybrid — continuous invariance + Quantum ViT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828800" cy="38100"/>
          </a:xfrm>
          <a:prstGeom prst="rect">
            <a:avLst/>
          </a:prstGeom>
          <a:solidFill>
            <a:srgbClr val="F4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A9BCD6"/>
                </a:solidFill>
                <a:latin typeface="Calibri"/>
              </a:rPr>
              <a:t>The three models above only handle 90° steps (discrete D4). Next I move to a different quantum architecture for </a:t>
            </a:r>
            <a:r>
              <a:rPr sz="1450" b="1">
                <a:solidFill>
                  <a:srgbClr val="F4B84E"/>
                </a:solidFill>
                <a:latin typeface="Calibri"/>
              </a:rPr>
              <a:t>any angle and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4008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35D0D8"/>
                </a:solidFill>
                <a:latin typeface="Calibri"/>
              </a:rPr>
              <a:t>•  </a:t>
            </a:r>
            <a:r>
              <a:rPr sz="1450" b="0">
                <a:solidFill>
                  <a:srgbClr val="F5F8FC"/>
                </a:solidFill>
                <a:latin typeface="Calibri"/>
              </a:rPr>
              <a:t>Equivariant Transformer Network (Tai et al., ICML 2019):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B8CFF"/>
                </a:solidFill>
                <a:latin typeface="Calibri"/>
              </a:rPr>
              <a:t>       –  </a:t>
            </a:r>
            <a:r>
              <a:rPr sz="1350" b="0">
                <a:solidFill>
                  <a:srgbClr val="A9BCD6"/>
                </a:solidFill>
                <a:latin typeface="Calibri"/>
              </a:rPr>
              <a:t>predicts the image pose, warps it into one canonical frame,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B8CFF"/>
                </a:solidFill>
                <a:latin typeface="Calibri"/>
              </a:rPr>
              <a:t>       –  </a:t>
            </a:r>
            <a:r>
              <a:rPr sz="1350" b="0">
                <a:solidFill>
                  <a:srgbClr val="A9BCD6"/>
                </a:solidFill>
                <a:latin typeface="Calibri"/>
              </a:rPr>
              <a:t>gives continuous rotation + scale invariance.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35D0D8"/>
                </a:solidFill>
                <a:latin typeface="Calibri"/>
              </a:rPr>
              <a:t>•  </a:t>
            </a:r>
            <a:r>
              <a:rPr sz="1450" b="0">
                <a:solidFill>
                  <a:srgbClr val="F5F8FC"/>
                </a:solidFill>
                <a:latin typeface="Calibri"/>
              </a:rPr>
              <a:t>Orthogonal patch-wise Quantum ViT (Cherrat et al., 2022):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B8CFF"/>
                </a:solidFill>
                <a:latin typeface="Calibri"/>
              </a:rPr>
              <a:t>       –  </a:t>
            </a:r>
            <a:r>
              <a:rPr sz="1350" b="0">
                <a:solidFill>
                  <a:srgbClr val="A9BCD6"/>
                </a:solidFill>
                <a:latin typeface="Calibri"/>
              </a:rPr>
              <a:t>RBS data-loader encodes patch tokens onto qubits,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B8CFF"/>
                </a:solidFill>
                <a:latin typeface="Calibri"/>
              </a:rPr>
              <a:t>       –  </a:t>
            </a:r>
            <a:r>
              <a:rPr sz="1350" b="0">
                <a:solidFill>
                  <a:srgbClr val="A9BCD6"/>
                </a:solidFill>
                <a:latin typeface="Calibri"/>
              </a:rPr>
              <a:t>butterfly orthogonal layer = quantum 'attention' per token,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B8CFF"/>
                </a:solidFill>
                <a:latin typeface="Calibri"/>
              </a:rPr>
              <a:t>       –  </a:t>
            </a:r>
            <a:r>
              <a:rPr sz="1350" b="0">
                <a:solidFill>
                  <a:srgbClr val="A9BCD6"/>
                </a:solidFill>
                <a:latin typeface="Calibri"/>
              </a:rPr>
              <a:t>cross-token RBS cascade mixes the patches.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35D0D8"/>
                </a:solidFill>
                <a:latin typeface="Calibri"/>
              </a:rPr>
              <a:t>•  </a:t>
            </a:r>
            <a:r>
              <a:rPr sz="1450" b="0">
                <a:solidFill>
                  <a:srgbClr val="F5F8FC"/>
                </a:solidFill>
                <a:latin typeface="Calibri"/>
              </a:rPr>
              <a:t>Status: notebook scaffolded; training + results next week.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783080"/>
            <a:ext cx="4389120" cy="406908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F4B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93852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4B84E"/>
                </a:solidFill>
                <a:latin typeface="Calibri"/>
              </a:rPr>
              <a:t>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487168"/>
            <a:ext cx="3931920" cy="42062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35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2487168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F8FC"/>
                </a:solidFill>
                <a:latin typeface="Calibri"/>
              </a:rPr>
              <a:t>Image (any orientation)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017520"/>
            <a:ext cx="3931920" cy="42062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3017520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F8FC"/>
                </a:solidFill>
                <a:latin typeface="Calibri"/>
              </a:rPr>
              <a:t>ETN canonicalizer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3547872"/>
            <a:ext cx="3931920" cy="42062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35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3547872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F8FC"/>
                </a:solidFill>
                <a:latin typeface="Calibri"/>
              </a:rPr>
              <a:t>Canonical-frame CNN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4078224"/>
            <a:ext cx="3931920" cy="42062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4078224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F8FC"/>
                </a:solidFill>
                <a:latin typeface="Calibri"/>
              </a:rPr>
              <a:t>Patch tokenizer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4608576"/>
            <a:ext cx="3931920" cy="42062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35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4608576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F8FC"/>
                </a:solidFill>
                <a:latin typeface="Calibri"/>
              </a:rPr>
              <a:t>Orthogonal Quantum ViT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5138928"/>
            <a:ext cx="3931920" cy="42062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5138928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F8FC"/>
                </a:solidFill>
                <a:latin typeface="Calibri"/>
              </a:rPr>
              <a:t>Head → 3 logits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B84E"/>
                </a:solidFill>
                <a:latin typeface="Calibri"/>
              </a:rPr>
              <a:t>ALSO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8FC"/>
                </a:solidFill>
                <a:latin typeface="Calibri"/>
              </a:rPr>
              <a:t>Then: the 4-dataset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828800" cy="38100"/>
          </a:xfrm>
          <a:prstGeom prst="rect">
            <a:avLst/>
          </a:prstGeom>
          <a:solidFill>
            <a:srgbClr val="F4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5F8FC"/>
                </a:solidFill>
                <a:latin typeface="Calibri"/>
              </a:rPr>
              <a:t>Reuse the GSoC-2023 protocol — run the quantum models across Model I–IV, just like the 2023 equivariant transformers.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2697480" cy="246888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35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2697480" cy="640080"/>
          </a:xfrm>
          <a:prstGeom prst="round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2697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F8FC"/>
                </a:solidFill>
                <a:latin typeface="Calibri"/>
              </a:rPr>
              <a:t>Wire datasets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CD6"/>
                </a:solidFill>
                <a:latin typeface="Calibri"/>
              </a:rPr>
              <a:t>Load Model I–IV with one shared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60320"/>
            <a:ext cx="2697480" cy="246888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0712" y="2560320"/>
            <a:ext cx="2697480" cy="640080"/>
          </a:xfrm>
          <a:prstGeom prst="round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2560320"/>
            <a:ext cx="2697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337560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F8FC"/>
                </a:solidFill>
                <a:latin typeface="Calibri"/>
              </a:rPr>
              <a:t>Train each arch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CD6"/>
                </a:solidFill>
                <a:latin typeface="Calibri"/>
              </a:rPr>
              <a:t>Same config on each dataset for a fair comparison.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560320"/>
            <a:ext cx="2697480" cy="246888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4AD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2560320"/>
            <a:ext cx="2697480" cy="640080"/>
          </a:xfrm>
          <a:prstGeom prst="round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2560320"/>
            <a:ext cx="2697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337560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F8FC"/>
                </a:solidFill>
                <a:latin typeface="Calibri"/>
              </a:rPr>
              <a:t>Compare vs classical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CD6"/>
                </a:solidFill>
                <a:latin typeface="Calibri"/>
              </a:rPr>
              <a:t>Quantum vs the 2023 C8 transformer baselines.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2560320"/>
            <a:ext cx="2697480" cy="2468880"/>
          </a:xfrm>
          <a:prstGeom prst="roundRect">
            <a:avLst/>
          </a:prstGeom>
          <a:solidFill>
            <a:srgbClr val="142A4A"/>
          </a:solidFill>
          <a:ln w="19050">
            <a:solidFill>
              <a:srgbClr val="F4B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34856" y="2560320"/>
            <a:ext cx="2697480" cy="640080"/>
          </a:xfrm>
          <a:prstGeom prst="roundRect">
            <a:avLst/>
          </a:prstGeom>
          <a:solidFill>
            <a:srgbClr val="F4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856" y="2560320"/>
            <a:ext cx="2697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3337560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F8FC"/>
                </a:solidFill>
                <a:latin typeface="Calibri"/>
              </a:rPr>
              <a:t>Report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CD6"/>
                </a:solidFill>
                <a:latin typeface="Calibri"/>
              </a:rPr>
              <a:t>Accuracy / AUC table across all datasets + plots.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5D0D8"/>
                </a:solidFill>
                <a:latin typeface="Calibri"/>
              </a:rPr>
              <a:t>•  </a:t>
            </a:r>
            <a:r>
              <a:rPr sz="1500" b="0">
                <a:solidFill>
                  <a:srgbClr val="F5F8FC"/>
                </a:solidFill>
                <a:latin typeface="Calibri"/>
              </a:rPr>
              <a:t>Goal: show equivariance + quantum generalizes across all four settings, not just one.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5D0D8"/>
                </a:solidFill>
                <a:latin typeface="Calibri"/>
              </a:rPr>
              <a:t>•  </a:t>
            </a:r>
            <a:r>
              <a:rPr sz="1500" b="0">
                <a:solidFill>
                  <a:srgbClr val="F5F8FC"/>
                </a:solidFill>
                <a:latin typeface="Calibri"/>
              </a:rPr>
              <a:t>Stretch goal: ablate discrete-p4m vs continuous (ETN+QViT) invariance head-to-head.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5F8FC"/>
                </a:solidFill>
                <a:latin typeface="Calibri"/>
              </a:rPr>
              <a:t>Summary &amp; 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This week: built and ran THREE different quantum architectures for the same 3-class task.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equiv_qnn 96.93%  •  strict_p4m 95.60%  •  fully_equivariant_v2 97.20% (best).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Key finding: the strictest, paper-based p4m symmetry scores highest.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Next week: ETN + Quantum ViT for continuous invariance.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5D0D8"/>
                </a:solidFill>
                <a:latin typeface="Calibri"/>
              </a:rPr>
              <a:t>•  </a:t>
            </a:r>
            <a:r>
              <a:rPr sz="1600" b="0">
                <a:solidFill>
                  <a:srgbClr val="F5F8FC"/>
                </a:solidFill>
                <a:latin typeface="Calibri"/>
              </a:rPr>
              <a:t>Then: benchmark all architectures on the 4 GSoC-2023 datasets (Model I–IV).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5D0D8"/>
                </a:solidFill>
                <a:latin typeface="Calibri"/>
              </a:rPr>
              <a:t>References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A9BCD6"/>
                </a:solidFill>
                <a:latin typeface="Calibri"/>
              </a:rPr>
              <a:t>Chang et al., Approximately Equivariant QNN for p4m (arXiv:2310.02323)  •  Tai, Bailis &amp; Valiant, Equivariant Transformer Networks (ICML 2019)  •  Cherrat et al., Quantum Vision Transformers (2022)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